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57596c-9f40-58d4-8a4d-f6e7b608b4b5}">
          <p14:sldIdLst>
            <p14:sldId id="256"/>
            <p14:sldId id="257"/>
          </p14:sldIdLst>
        </p14:section>
        <p14:section name="Technique" id="{21b94891-7d54-5aa8-f0b3-c1c7720272dc}">
          <p14:sldIdLst>
            <p14:sldId id="258"/>
            <p14:sldId id="259"/>
            <p14:sldId id="260"/>
          </p14:sldIdLst>
        </p14:section>
        <p14:section name="Démonstration" id="{7c259b92-c439-46ff-9740-42934ec60f51}">
          <p14:sldIdLst>
            <p14:sldId id="261"/>
          </p14:sldIdLst>
        </p14:section>
        <p14:section name="Qualité" id="{dadd90fa-dd79-3dc3-5202-f89f2ab32688}">
          <p14:sldIdLst>
            <p14:sldId id="262"/>
            <p14:sldId id="263"/>
          </p14:sldIdLst>
        </p14:section>
        <p14:section name="Conclusion" id="{9593c70c-e5a8-cace-508b-af5114515a5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Mes Bonnes Adresses, une application mobile que j'ai réalisée seul dans le cadre du module 5MOBD. L'idée : pouvoir enregistrer ses adresses favorites, les garder privées ou les partager, et découvrir celles des autres. Je vais d'abord présenter rapidement le projet et ses choix techniques, puis je ferai une démonstration en direct sur mon iPhone, et je terminerai par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répond à quatre besoins. Un : une carte qui se centre automatiquement sur ma position, avec mes adresses et les adresses publiques des autres utilisateurs. Deux : chaque adresse a un nom, une photo, une description, et elle est soit privée, visible uniquement par moi, soit publique. Trois : une dimension sociale, on peut laisser un avis noté sur cinq, avec un commentaire et une photo, sur les adresses publiques des autres. Quatre : la gestion du compte, avec inscription, connexion, déconnexion et photo de profil.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technique, j'ai utilisé Expo avec React Native et TypeScript. La navigation est faite avec Expo Router : chaque écran est un fichier, et les écrans de l'application ne sont accessibles qu'une fois connecté. Le back-end, c'est Firebase : Authentication pour les comptes, Firestore pour les données en temps réel, et Cloud Storage pour les photos. La carte utilise react-native-maps, donc Apple Plans sur iPhone, et expo-location pour récupérer la position. Un point important : la consigne demande Node 20.18.0. Pour faire la démo sur mon iPhone, Expo Go impose la dernière version du SDK, qui exige au minimum Node 20.19.4. J'ai donc pris Node 20.20.2, qui reste dans la même branche LTS 20, et toutes les versions sont documentées dans le README, comme le permet la consigne.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en couches. Les écrans n'appellent jamais Firebase directement : ils passent par des hooks et un contexte d'authentification, qui utilisent des services. Ça rend le code testable, puisque dans les tests je remplace simplement les services. Dans Firestore, j'ai trois niveaux : les profils utilisateurs, les adresses, et les avis rangés en sous-collection de chaque adresse. Les photos sont dans Cloud Storage, dans un dossier par 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repose sur les règles Firestore et Storage, qui sont dans le dépôt. Il faut être connecté pour tout. Une adresse privée n'est lisible que par son propriétaire. On ne peut créer une adresse qu'à son propre nom, et seul le propriétaire peut la modifier ou la supprimer. Les données sont validées côté serveur : longueur du nom, note entière entre 1 et 5, coordonnées valides. Les avis ne sont possibles que sur une adresse publique, et au nom de l'utilisateur connecté. Enfin, les photos doivent être des images de moins de 5 Mo, dans le dossier de l'utilisateur. Toutes ces règles sont testées automatiquement, je le montrerai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maintenant à la démonstration. L'application tourne sur mon iPhone dans Expo Go, et elle utilise les émulateurs officiels de Firebase lancés sur mon PC, avec exactement les mêmes règles de sécurité qu'un vrai projet. [DÉMO — suivre le déroulé de SOUTENANCE.md, section 7] 1. Je crée un compte, en montrant l'erreur si les mots de passe ne correspondent pas. 2. La carte se centre automatiquement sur ma position. 3. J'ajoute puis je supprime une photo de profil. 4. Je me déconnecte, je montre l'erreur de mot de passe, puis je me connecte avec Alice. 5. Dans Mes adresses, je montre les adresses publiques et privées avec les filtres. 6. Je crée une adresse publique avec nom, description, photo et emplacement. 7. Je me connecte avec Bob : dans Explorer il voit les adresses publiques d'Alice mais pas sa privée, et il laisse un avis avec photo. 8. Je reviens sur Alice et je supprime une adresse. Pour finir la démo, j'ouvre l'interface des émulateurs sur localhost:4040 pour montrer les comptes, les données, les photos et les requêtes autorisées ou refusées.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qualité, il y a quatre niveaux de tests. 202 tests unitaires et fonctionnels avec Jest et React Native Testing Library : la validation des formulaires, les services, les composants, et chaque écran testé du point de vue de l'utilisateur, ainsi que la navigation avec le vrai routeur. La couverture est d'environ 97 %. 41 tests tournent sur les émulateurs Firebase : 33 vérifient les règles de sécurité, ce qui est autorisé et ce qui est refusé, et un parcours complet utilise les vrais services de l'application. 4 parcours de bout en bout avec Maestro. Et Storybook, avec 31 stories pour 11 composants, qui sont aussi rendues dans Jest pour vérifier qu'elles restent valides. [Montrer les résultats de npm test et npm run test:firebase, un parcours Maestro, puis Storybook sur l'iPhone.]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rencontré trois difficultés principales. La première : Expo Go sur iPhone n'accepte que la dernière version du SDK. J'ai donc migré le projet vers le SDK 57, ce qui m'a obligé à utiliser Node 20.20.2, documenté dans le README. La deuxième : Cloud Storage, nécessaire pour les photos, demande maintenant le forfait payant Blaze. Pour la démo j'utilise les émulateurs officiels de Firebase, qui appliquent les mêmes règles et ne coûtent rien ; un vrai projet en ligne ne demande que les variables d'environnement. La troisième : faire communiquer l'iPhone et le PC. Il a fallu sortir de WSL, supprimer d'anciennes redirections de ports et régler le pare-feu. J'ai aussi fait en sorte que les photos restent visibles même si l'adresse IP du PC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toutes les fonctionnalités demandées sont en place, la carte centrée sur l'utilisateur, les adresses privées et publiques avec nom, photo et description, la suppression, les avis avec photos et la gestion de compte. Le projet Firebase est sécurisé par des règles testées automatiquement, et l'application est couverte par des tests unitaires, fonctionnels, de bout en bout et par Storybook. Merci pour votre attention,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486400"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697480"/>
            <a:ext cx="5486400" cy="1097280"/>
          </a:xfrm>
          <a:prstGeom prst="rect">
            <a:avLst/>
          </a:prstGeom>
          <a:noFill/>
          <a:ln/>
        </p:spPr>
        <p:txBody>
          <a:bodyPr wrap="square" rtlCol="0"/>
          <a:lstStyle>
            <a:lvl1pPr algn="l" indent="0" marL="0">
              <a:buNone/>
              <a:defRPr lang="en-US" sz="1800" dirty="0">
                <a:solidFill>
                  <a:srgbClr val="CFE6DD"/>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486400" cy="1188720"/>
          </a:xfrm>
          <a:prstGeom prst="rect">
            <a:avLst/>
          </a:prstGeom>
          <a:noFill/>
          <a:ln/>
        </p:spPr>
        <p:txBody>
          <a:bodyPr wrap="square" lIns="0" tIns="0" rIns="0" bIns="0" rtlCol="0" anchor="b"/>
          <a:lstStyle/>
          <a:p>
            <a:pPr algn="l" indent="0" marL="0">
              <a:buNone/>
            </a:pPr>
            <a:r>
              <a:rPr lang="en-US" sz="3600" b="1" dirty="0">
                <a:solidFill>
                  <a:schemeClr val="bg1"/>
                </a:solidFill>
              </a:rPr>
              <a:t>Mes Bonnes Adresses</a:t>
            </a:r>
            <a:endParaRPr lang="en-US" sz="3600" dirty="0"/>
          </a:p>
        </p:txBody>
      </p:sp>
      <p:sp>
        <p:nvSpPr>
          <p:cNvPr id="3" name="Text 0"/>
          <p:cNvSpPr/>
          <p:nvPr>
            <p:ph idx="101" type="body" hasCustomPrompt="1"/>
          </p:nvPr>
        </p:nvSpPr>
        <p:spPr>
          <a:xfrm>
            <a:off x="548640" y="2697480"/>
            <a:ext cx="5486400" cy="1097280"/>
          </a:xfrm>
          <a:prstGeom prst="rect">
            <a:avLst/>
          </a:prstGeom>
          <a:noFill/>
          <a:ln/>
        </p:spPr>
        <p:txBody>
          <a:bodyPr wrap="square" lIns="0" tIns="0" rIns="0" bIns="0" rtlCol="0" anchor="t"/>
          <a:lstStyle/>
          <a:p>
            <a:pPr algn="l" indent="0" marL="0">
              <a:buNone/>
            </a:pPr>
            <a:r>
              <a:rPr lang="en-US" sz="1800" dirty="0">
                <a:solidFill>
                  <a:srgbClr val="CFE6DD"/>
                </a:solidFill>
              </a:rPr>
              <a:t>Sauvegarder, gérer et partager ses adresses favorites</a:t>
            </a:r>
            <a:endParaRPr lang="en-US" sz="1800" dirty="0"/>
          </a:p>
          <a:p>
            <a:pPr algn="l" indent="0" marL="0">
              <a:buNone/>
            </a:pPr>
            <a:r>
              <a:rPr lang="en-US" sz="1800" dirty="0">
                <a:solidFill>
                  <a:srgbClr val="CFE6DD"/>
                </a:solidFill>
              </a:rPr>
              <a:t>Soutenance 5MOBD — Rayene</a:t>
            </a:r>
            <a:endParaRPr lang="en-US" sz="1800" dirty="0"/>
          </a:p>
        </p:txBody>
      </p:sp>
      <p:sp>
        <p:nvSpPr>
          <p:cNvPr id="4" name="Shape 2"/>
          <p:cNvSpPr/>
          <p:nvPr/>
        </p:nvSpPr>
        <p:spPr>
          <a:xfrm>
            <a:off x="6400800" y="1188720"/>
            <a:ext cx="2194560" cy="21945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949440" y="173736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Ce que fait l’application</a:t>
            </a:r>
            <a:endParaRPr lang="en-US" sz="3000" dirty="0"/>
          </a:p>
        </p:txBody>
      </p:sp>
      <p:sp>
        <p:nvSpPr>
          <p:cNvPr id="3" name="Shape 1"/>
          <p:cNvSpPr/>
          <p:nvPr/>
        </p:nvSpPr>
        <p:spPr>
          <a:xfrm>
            <a:off x="548640" y="1280160"/>
            <a:ext cx="3840480" cy="1417320"/>
          </a:xfrm>
          <a:prstGeom prst="roundRect">
            <a:avLst>
              <a:gd name="adj" fmla="val 7742"/>
            </a:avLst>
          </a:prstGeom>
          <a:solidFill>
            <a:schemeClr val="bg2"/>
          </a:solidFill>
          <a:ln w="12700">
            <a:solidFill>
              <a:schemeClr val="bg2"/>
            </a:solidFill>
            <a:prstDash val="solid"/>
          </a:ln>
        </p:spPr>
      </p:sp>
      <p:sp>
        <p:nvSpPr>
          <p:cNvPr id="4" name="Shape 2"/>
          <p:cNvSpPr/>
          <p:nvPr/>
        </p:nvSpPr>
        <p:spPr>
          <a:xfrm>
            <a:off x="822960" y="1691640"/>
            <a:ext cx="548640" cy="5486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43661" y="1812341"/>
            <a:ext cx="307238" cy="307238"/>
          </a:xfrm>
          <a:prstGeom prst="rect">
            <a:avLst/>
          </a:prstGeom>
        </p:spPr>
      </p:pic>
      <p:sp>
        <p:nvSpPr>
          <p:cNvPr id="6" name="Text 3"/>
          <p:cNvSpPr txBox="1"/>
          <p:nvPr/>
        </p:nvSpPr>
        <p:spPr>
          <a:xfrm>
            <a:off x="1554480" y="1554480"/>
            <a:ext cx="2651760" cy="411480"/>
          </a:xfrm>
          <a:prstGeom prst="rect">
            <a:avLst/>
          </a:prstGeom>
          <a:noFill/>
          <a:ln/>
        </p:spPr>
        <p:txBody>
          <a:bodyPr wrap="square" lIns="0" tIns="0" rIns="0" bIns="0" rtlCol="0" anchor="ctr"/>
          <a:lstStyle/>
          <a:p>
            <a:pPr indent="0" marL="0">
              <a:buNone/>
            </a:pPr>
            <a:r>
              <a:rPr lang="en-US" sz="1800" b="1" dirty="0">
                <a:solidFill>
                  <a:schemeClr val="tx2"/>
                </a:solidFill>
              </a:rPr>
              <a:t>Carte centrée sur moi</a:t>
            </a:r>
            <a:endParaRPr lang="en-US" sz="1800" dirty="0"/>
          </a:p>
        </p:txBody>
      </p:sp>
      <p:sp>
        <p:nvSpPr>
          <p:cNvPr id="7" name="Text 4"/>
          <p:cNvSpPr txBox="1"/>
          <p:nvPr/>
        </p:nvSpPr>
        <p:spPr>
          <a:xfrm>
            <a:off x="1554480" y="1965960"/>
            <a:ext cx="2651760" cy="548640"/>
          </a:xfrm>
          <a:prstGeom prst="rect">
            <a:avLst/>
          </a:prstGeom>
          <a:noFill/>
          <a:ln/>
        </p:spPr>
        <p:txBody>
          <a:bodyPr wrap="square" lIns="0" tIns="0" rIns="0" bIns="0" rtlCol="0" anchor="t"/>
          <a:lstStyle/>
          <a:p>
            <a:pPr indent="0" marL="0">
              <a:buNone/>
            </a:pPr>
            <a:r>
              <a:rPr lang="en-US" sz="1400" dirty="0">
                <a:solidFill>
                  <a:schemeClr val="tx1"/>
                </a:solidFill>
              </a:rPr>
              <a:t>Mes adresses et celles des autres, autour de ma position</a:t>
            </a:r>
            <a:endParaRPr lang="en-US" sz="1400" dirty="0"/>
          </a:p>
        </p:txBody>
      </p:sp>
      <p:sp>
        <p:nvSpPr>
          <p:cNvPr id="8" name="Shape 5"/>
          <p:cNvSpPr/>
          <p:nvPr/>
        </p:nvSpPr>
        <p:spPr>
          <a:xfrm>
            <a:off x="4663440" y="1280160"/>
            <a:ext cx="3840480" cy="1417320"/>
          </a:xfrm>
          <a:prstGeom prst="roundRect">
            <a:avLst>
              <a:gd name="adj" fmla="val 7742"/>
            </a:avLst>
          </a:prstGeom>
          <a:solidFill>
            <a:schemeClr val="bg2"/>
          </a:solidFill>
          <a:ln w="12700">
            <a:solidFill>
              <a:schemeClr val="bg2"/>
            </a:solidFill>
            <a:prstDash val="solid"/>
          </a:ln>
        </p:spPr>
      </p:sp>
      <p:sp>
        <p:nvSpPr>
          <p:cNvPr id="9" name="Shape 6"/>
          <p:cNvSpPr/>
          <p:nvPr/>
        </p:nvSpPr>
        <p:spPr>
          <a:xfrm>
            <a:off x="4937760" y="1691640"/>
            <a:ext cx="548640" cy="54864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5058461" y="1812341"/>
            <a:ext cx="307238" cy="307238"/>
          </a:xfrm>
          <a:prstGeom prst="rect">
            <a:avLst/>
          </a:prstGeom>
        </p:spPr>
      </p:pic>
      <p:sp>
        <p:nvSpPr>
          <p:cNvPr id="11" name="Text 7"/>
          <p:cNvSpPr txBox="1"/>
          <p:nvPr/>
        </p:nvSpPr>
        <p:spPr>
          <a:xfrm>
            <a:off x="5669280" y="1554480"/>
            <a:ext cx="2651760" cy="411480"/>
          </a:xfrm>
          <a:prstGeom prst="rect">
            <a:avLst/>
          </a:prstGeom>
          <a:noFill/>
          <a:ln/>
        </p:spPr>
        <p:txBody>
          <a:bodyPr wrap="square" lIns="0" tIns="0" rIns="0" bIns="0" rtlCol="0" anchor="ctr"/>
          <a:lstStyle/>
          <a:p>
            <a:pPr indent="0" marL="0">
              <a:buNone/>
            </a:pPr>
            <a:r>
              <a:rPr lang="en-US" sz="1800" b="1" dirty="0">
                <a:solidFill>
                  <a:schemeClr val="tx2"/>
                </a:solidFill>
              </a:rPr>
              <a:t>Privée ou publique</a:t>
            </a:r>
            <a:endParaRPr lang="en-US" sz="1800" dirty="0"/>
          </a:p>
        </p:txBody>
      </p:sp>
      <p:sp>
        <p:nvSpPr>
          <p:cNvPr id="12" name="Text 8"/>
          <p:cNvSpPr txBox="1"/>
          <p:nvPr/>
        </p:nvSpPr>
        <p:spPr>
          <a:xfrm>
            <a:off x="5669280" y="1965960"/>
            <a:ext cx="2651760" cy="548640"/>
          </a:xfrm>
          <a:prstGeom prst="rect">
            <a:avLst/>
          </a:prstGeom>
          <a:noFill/>
          <a:ln/>
        </p:spPr>
        <p:txBody>
          <a:bodyPr wrap="square" lIns="0" tIns="0" rIns="0" bIns="0" rtlCol="0" anchor="t"/>
          <a:lstStyle/>
          <a:p>
            <a:pPr indent="0" marL="0">
              <a:buNone/>
            </a:pPr>
            <a:r>
              <a:rPr lang="en-US" sz="1400" dirty="0">
                <a:solidFill>
                  <a:schemeClr val="tx1"/>
                </a:solidFill>
              </a:rPr>
              <a:t>Chaque adresse : nom, photo, description et visibilité</a:t>
            </a:r>
            <a:endParaRPr lang="en-US" sz="1400" dirty="0"/>
          </a:p>
        </p:txBody>
      </p:sp>
      <p:sp>
        <p:nvSpPr>
          <p:cNvPr id="13" name="Shape 9"/>
          <p:cNvSpPr/>
          <p:nvPr/>
        </p:nvSpPr>
        <p:spPr>
          <a:xfrm>
            <a:off x="548640" y="2971800"/>
            <a:ext cx="3840480" cy="1417320"/>
          </a:xfrm>
          <a:prstGeom prst="roundRect">
            <a:avLst>
              <a:gd name="adj" fmla="val 7742"/>
            </a:avLst>
          </a:prstGeom>
          <a:solidFill>
            <a:schemeClr val="bg2"/>
          </a:solidFill>
          <a:ln w="12700">
            <a:solidFill>
              <a:schemeClr val="bg2"/>
            </a:solidFill>
            <a:prstDash val="solid"/>
          </a:ln>
        </p:spPr>
      </p:sp>
      <p:sp>
        <p:nvSpPr>
          <p:cNvPr id="14" name="Shape 10"/>
          <p:cNvSpPr/>
          <p:nvPr/>
        </p:nvSpPr>
        <p:spPr>
          <a:xfrm>
            <a:off x="822960" y="3383280"/>
            <a:ext cx="548640" cy="54864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943661" y="3503981"/>
            <a:ext cx="307238" cy="307238"/>
          </a:xfrm>
          <a:prstGeom prst="rect">
            <a:avLst/>
          </a:prstGeom>
        </p:spPr>
      </p:pic>
      <p:sp>
        <p:nvSpPr>
          <p:cNvPr id="16" name="Text 11"/>
          <p:cNvSpPr txBox="1"/>
          <p:nvPr/>
        </p:nvSpPr>
        <p:spPr>
          <a:xfrm>
            <a:off x="1554480" y="3246120"/>
            <a:ext cx="2651760" cy="411480"/>
          </a:xfrm>
          <a:prstGeom prst="rect">
            <a:avLst/>
          </a:prstGeom>
          <a:noFill/>
          <a:ln/>
        </p:spPr>
        <p:txBody>
          <a:bodyPr wrap="square" lIns="0" tIns="0" rIns="0" bIns="0" rtlCol="0" anchor="ctr"/>
          <a:lstStyle/>
          <a:p>
            <a:pPr indent="0" marL="0">
              <a:buNone/>
            </a:pPr>
            <a:r>
              <a:rPr lang="en-US" sz="1800" b="1" dirty="0">
                <a:solidFill>
                  <a:schemeClr val="tx2"/>
                </a:solidFill>
              </a:rPr>
              <a:t>Avis avec photos</a:t>
            </a:r>
            <a:endParaRPr lang="en-US" sz="1800" dirty="0"/>
          </a:p>
        </p:txBody>
      </p:sp>
      <p:sp>
        <p:nvSpPr>
          <p:cNvPr id="17" name="Text 12"/>
          <p:cNvSpPr txBox="1"/>
          <p:nvPr/>
        </p:nvSpPr>
        <p:spPr>
          <a:xfrm>
            <a:off x="1554480" y="3657600"/>
            <a:ext cx="2651760" cy="548640"/>
          </a:xfrm>
          <a:prstGeom prst="rect">
            <a:avLst/>
          </a:prstGeom>
          <a:noFill/>
          <a:ln/>
        </p:spPr>
        <p:txBody>
          <a:bodyPr wrap="square" lIns="0" tIns="0" rIns="0" bIns="0" rtlCol="0" anchor="t"/>
          <a:lstStyle/>
          <a:p>
            <a:pPr indent="0" marL="0">
              <a:buNone/>
            </a:pPr>
            <a:r>
              <a:rPr lang="en-US" sz="1400" dirty="0">
                <a:solidFill>
                  <a:schemeClr val="tx1"/>
                </a:solidFill>
              </a:rPr>
              <a:t>Notes et commentaires sur les adresses publiques</a:t>
            </a:r>
            <a:endParaRPr lang="en-US" sz="1400" dirty="0"/>
          </a:p>
        </p:txBody>
      </p:sp>
      <p:sp>
        <p:nvSpPr>
          <p:cNvPr id="18" name="Shape 13"/>
          <p:cNvSpPr/>
          <p:nvPr/>
        </p:nvSpPr>
        <p:spPr>
          <a:xfrm>
            <a:off x="4663440" y="2971800"/>
            <a:ext cx="3840480" cy="1417320"/>
          </a:xfrm>
          <a:prstGeom prst="roundRect">
            <a:avLst>
              <a:gd name="adj" fmla="val 7742"/>
            </a:avLst>
          </a:prstGeom>
          <a:solidFill>
            <a:schemeClr val="bg2"/>
          </a:solidFill>
          <a:ln w="12700">
            <a:solidFill>
              <a:schemeClr val="bg2"/>
            </a:solidFill>
            <a:prstDash val="solid"/>
          </a:ln>
        </p:spPr>
      </p:sp>
      <p:sp>
        <p:nvSpPr>
          <p:cNvPr id="19" name="Shape 14"/>
          <p:cNvSpPr/>
          <p:nvPr/>
        </p:nvSpPr>
        <p:spPr>
          <a:xfrm>
            <a:off x="4937760" y="3383280"/>
            <a:ext cx="548640" cy="54864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5058461" y="3503981"/>
            <a:ext cx="307238" cy="307238"/>
          </a:xfrm>
          <a:prstGeom prst="rect">
            <a:avLst/>
          </a:prstGeom>
        </p:spPr>
      </p:pic>
      <p:sp>
        <p:nvSpPr>
          <p:cNvPr id="21" name="Text 15"/>
          <p:cNvSpPr txBox="1"/>
          <p:nvPr/>
        </p:nvSpPr>
        <p:spPr>
          <a:xfrm>
            <a:off x="5669280" y="3246120"/>
            <a:ext cx="2651760" cy="411480"/>
          </a:xfrm>
          <a:prstGeom prst="rect">
            <a:avLst/>
          </a:prstGeom>
          <a:noFill/>
          <a:ln/>
        </p:spPr>
        <p:txBody>
          <a:bodyPr wrap="square" lIns="0" tIns="0" rIns="0" bIns="0" rtlCol="0" anchor="ctr"/>
          <a:lstStyle/>
          <a:p>
            <a:pPr indent="0" marL="0">
              <a:buNone/>
            </a:pPr>
            <a:r>
              <a:rPr lang="en-US" sz="1800" b="1" dirty="0">
                <a:solidFill>
                  <a:schemeClr val="tx2"/>
                </a:solidFill>
              </a:rPr>
              <a:t>Compte utilisateur</a:t>
            </a:r>
            <a:endParaRPr lang="en-US" sz="1800" dirty="0"/>
          </a:p>
        </p:txBody>
      </p:sp>
      <p:sp>
        <p:nvSpPr>
          <p:cNvPr id="22" name="Text 16"/>
          <p:cNvSpPr txBox="1"/>
          <p:nvPr/>
        </p:nvSpPr>
        <p:spPr>
          <a:xfrm>
            <a:off x="5669280" y="3657600"/>
            <a:ext cx="2651760" cy="548640"/>
          </a:xfrm>
          <a:prstGeom prst="rect">
            <a:avLst/>
          </a:prstGeom>
          <a:noFill/>
          <a:ln/>
        </p:spPr>
        <p:txBody>
          <a:bodyPr wrap="square" lIns="0" tIns="0" rIns="0" bIns="0" rtlCol="0" anchor="t"/>
          <a:lstStyle/>
          <a:p>
            <a:pPr indent="0" marL="0">
              <a:buNone/>
            </a:pPr>
            <a:r>
              <a:rPr lang="en-US" sz="1400" dirty="0">
                <a:solidFill>
                  <a:schemeClr val="tx1"/>
                </a:solidFill>
              </a:rPr>
              <a:t>Inscription, connexion, déconnexion, photo de profil</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Choix techniques</a:t>
            </a:r>
            <a:endParaRPr lang="en-US" sz="3000" dirty="0"/>
          </a:p>
        </p:txBody>
      </p:sp>
      <p:sp>
        <p:nvSpPr>
          <p:cNvPr id="3" name="Shape 1"/>
          <p:cNvSpPr/>
          <p:nvPr/>
        </p:nvSpPr>
        <p:spPr>
          <a:xfrm>
            <a:off x="548640" y="1188720"/>
            <a:ext cx="548640" cy="5486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669341" y="1309421"/>
            <a:ext cx="307238" cy="307238"/>
          </a:xfrm>
          <a:prstGeom prst="rect">
            <a:avLst/>
          </a:prstGeom>
        </p:spPr>
      </p:pic>
      <p:sp>
        <p:nvSpPr>
          <p:cNvPr id="5" name="Text 2"/>
          <p:cNvSpPr txBox="1"/>
          <p:nvPr/>
        </p:nvSpPr>
        <p:spPr>
          <a:xfrm>
            <a:off x="1325880" y="1170432"/>
            <a:ext cx="4206240" cy="320040"/>
          </a:xfrm>
          <a:prstGeom prst="rect">
            <a:avLst/>
          </a:prstGeom>
          <a:noFill/>
          <a:ln/>
        </p:spPr>
        <p:txBody>
          <a:bodyPr wrap="square" lIns="0" tIns="0" rIns="0" bIns="0" rtlCol="0" anchor="ctr"/>
          <a:lstStyle/>
          <a:p>
            <a:pPr indent="0" marL="0">
              <a:buNone/>
            </a:pPr>
            <a:r>
              <a:rPr lang="en-US" sz="1700" b="1" dirty="0">
                <a:solidFill>
                  <a:schemeClr val="tx2"/>
                </a:solidFill>
              </a:rPr>
              <a:t>Expo SDK 57 · React Native 0.86</a:t>
            </a:r>
            <a:endParaRPr lang="en-US" sz="1700" dirty="0"/>
          </a:p>
        </p:txBody>
      </p:sp>
      <p:sp>
        <p:nvSpPr>
          <p:cNvPr id="6" name="Text 3"/>
          <p:cNvSpPr txBox="1"/>
          <p:nvPr/>
        </p:nvSpPr>
        <p:spPr>
          <a:xfrm>
            <a:off x="1325880" y="1481328"/>
            <a:ext cx="4206240" cy="320040"/>
          </a:xfrm>
          <a:prstGeom prst="rect">
            <a:avLst/>
          </a:prstGeom>
          <a:noFill/>
          <a:ln/>
        </p:spPr>
        <p:txBody>
          <a:bodyPr wrap="square" lIns="0" tIns="0" rIns="0" bIns="0" rtlCol="0" anchor="ctr"/>
          <a:lstStyle/>
          <a:p>
            <a:pPr indent="0" marL="0">
              <a:buNone/>
            </a:pPr>
            <a:r>
              <a:rPr lang="en-US" sz="1400" dirty="0">
                <a:solidFill>
                  <a:schemeClr val="tx1"/>
                </a:solidFill>
              </a:rPr>
              <a:t>TypeScript, Expo Router (navigation par fichiers, routes protégées)</a:t>
            </a:r>
            <a:endParaRPr lang="en-US" sz="1400" dirty="0"/>
          </a:p>
        </p:txBody>
      </p:sp>
      <p:sp>
        <p:nvSpPr>
          <p:cNvPr id="7" name="Shape 4"/>
          <p:cNvSpPr/>
          <p:nvPr/>
        </p:nvSpPr>
        <p:spPr>
          <a:xfrm>
            <a:off x="548640" y="2057400"/>
            <a:ext cx="548640" cy="54864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669341" y="2178101"/>
            <a:ext cx="307238" cy="307238"/>
          </a:xfrm>
          <a:prstGeom prst="rect">
            <a:avLst/>
          </a:prstGeom>
        </p:spPr>
      </p:pic>
      <p:sp>
        <p:nvSpPr>
          <p:cNvPr id="9" name="Text 5"/>
          <p:cNvSpPr txBox="1"/>
          <p:nvPr/>
        </p:nvSpPr>
        <p:spPr>
          <a:xfrm>
            <a:off x="1325880" y="2039112"/>
            <a:ext cx="4206240" cy="320040"/>
          </a:xfrm>
          <a:prstGeom prst="rect">
            <a:avLst/>
          </a:prstGeom>
          <a:noFill/>
          <a:ln/>
        </p:spPr>
        <p:txBody>
          <a:bodyPr wrap="square" lIns="0" tIns="0" rIns="0" bIns="0" rtlCol="0" anchor="ctr"/>
          <a:lstStyle/>
          <a:p>
            <a:pPr indent="0" marL="0">
              <a:buNone/>
            </a:pPr>
            <a:r>
              <a:rPr lang="en-US" sz="1700" b="1" dirty="0">
                <a:solidFill>
                  <a:schemeClr val="tx2"/>
                </a:solidFill>
              </a:rPr>
              <a:t>Firebase</a:t>
            </a:r>
            <a:endParaRPr lang="en-US" sz="1700" dirty="0"/>
          </a:p>
        </p:txBody>
      </p:sp>
      <p:sp>
        <p:nvSpPr>
          <p:cNvPr id="10" name="Text 6"/>
          <p:cNvSpPr txBox="1"/>
          <p:nvPr/>
        </p:nvSpPr>
        <p:spPr>
          <a:xfrm>
            <a:off x="1325880" y="2350008"/>
            <a:ext cx="4206240" cy="320040"/>
          </a:xfrm>
          <a:prstGeom prst="rect">
            <a:avLst/>
          </a:prstGeom>
          <a:noFill/>
          <a:ln/>
        </p:spPr>
        <p:txBody>
          <a:bodyPr wrap="square" lIns="0" tIns="0" rIns="0" bIns="0" rtlCol="0" anchor="ctr"/>
          <a:lstStyle/>
          <a:p>
            <a:pPr indent="0" marL="0">
              <a:buNone/>
            </a:pPr>
            <a:r>
              <a:rPr lang="en-US" sz="1400" dirty="0">
                <a:solidFill>
                  <a:schemeClr val="tx1"/>
                </a:solidFill>
              </a:rPr>
              <a:t>Authentication, Firestore (temps réel), Cloud Storage (photos)</a:t>
            </a:r>
            <a:endParaRPr lang="en-US" sz="1400" dirty="0"/>
          </a:p>
        </p:txBody>
      </p:sp>
      <p:sp>
        <p:nvSpPr>
          <p:cNvPr id="11" name="Shape 7"/>
          <p:cNvSpPr/>
          <p:nvPr/>
        </p:nvSpPr>
        <p:spPr>
          <a:xfrm>
            <a:off x="548640" y="2926080"/>
            <a:ext cx="548640" cy="54864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669341" y="3046781"/>
            <a:ext cx="307238" cy="307238"/>
          </a:xfrm>
          <a:prstGeom prst="rect">
            <a:avLst/>
          </a:prstGeom>
        </p:spPr>
      </p:pic>
      <p:sp>
        <p:nvSpPr>
          <p:cNvPr id="13" name="Text 8"/>
          <p:cNvSpPr txBox="1"/>
          <p:nvPr/>
        </p:nvSpPr>
        <p:spPr>
          <a:xfrm>
            <a:off x="1325880" y="2907792"/>
            <a:ext cx="4206240" cy="320040"/>
          </a:xfrm>
          <a:prstGeom prst="rect">
            <a:avLst/>
          </a:prstGeom>
          <a:noFill/>
          <a:ln/>
        </p:spPr>
        <p:txBody>
          <a:bodyPr wrap="square" lIns="0" tIns="0" rIns="0" bIns="0" rtlCol="0" anchor="ctr"/>
          <a:lstStyle/>
          <a:p>
            <a:pPr indent="0" marL="0">
              <a:buNone/>
            </a:pPr>
            <a:r>
              <a:rPr lang="en-US" sz="1700" b="1" dirty="0">
                <a:solidFill>
                  <a:schemeClr val="tx2"/>
                </a:solidFill>
              </a:rPr>
              <a:t>react-native-maps + expo-location</a:t>
            </a:r>
            <a:endParaRPr lang="en-US" sz="1700" dirty="0"/>
          </a:p>
        </p:txBody>
      </p:sp>
      <p:sp>
        <p:nvSpPr>
          <p:cNvPr id="14" name="Text 9"/>
          <p:cNvSpPr txBox="1"/>
          <p:nvPr/>
        </p:nvSpPr>
        <p:spPr>
          <a:xfrm>
            <a:off x="1325880" y="3218688"/>
            <a:ext cx="4206240" cy="320040"/>
          </a:xfrm>
          <a:prstGeom prst="rect">
            <a:avLst/>
          </a:prstGeom>
          <a:noFill/>
          <a:ln/>
        </p:spPr>
        <p:txBody>
          <a:bodyPr wrap="square" lIns="0" tIns="0" rIns="0" bIns="0" rtlCol="0" anchor="ctr"/>
          <a:lstStyle/>
          <a:p>
            <a:pPr indent="0" marL="0">
              <a:buNone/>
            </a:pPr>
            <a:r>
              <a:rPr lang="en-US" sz="1400" dirty="0">
                <a:solidFill>
                  <a:schemeClr val="tx1"/>
                </a:solidFill>
              </a:rPr>
              <a:t>Carte native (Apple Plans sur iPhone), position de l’utilisateur</a:t>
            </a:r>
            <a:endParaRPr lang="en-US" sz="1400" dirty="0"/>
          </a:p>
        </p:txBody>
      </p:sp>
      <p:sp>
        <p:nvSpPr>
          <p:cNvPr id="15" name="Shape 10"/>
          <p:cNvSpPr/>
          <p:nvPr/>
        </p:nvSpPr>
        <p:spPr>
          <a:xfrm>
            <a:off x="548640" y="3794760"/>
            <a:ext cx="548640" cy="548640"/>
          </a:xfrm>
          <a:prstGeom prst="ellipse">
            <a:avLst/>
          </a:prstGeom>
          <a:solidFill>
            <a:schemeClr val="accent2"/>
          </a:solidFill>
          <a:ln w="12700">
            <a:solidFill>
              <a:schemeClr val="accent2"/>
            </a:solidFill>
            <a:prstDash val="solid"/>
          </a:ln>
        </p:spPr>
      </p:sp>
      <p:pic>
        <p:nvPicPr>
          <p:cNvPr id="16" name="Image 3" descr="preencoded.png">    </p:cNvPr>
          <p:cNvPicPr>
            <a:picLocks noChangeAspect="1"/>
          </p:cNvPicPr>
          <p:nvPr/>
        </p:nvPicPr>
        <p:blipFill>
          <a:blip r:embed="rId4"/>
          <a:stretch>
            <a:fillRect/>
          </a:stretch>
        </p:blipFill>
        <p:spPr>
          <a:xfrm>
            <a:off x="669341" y="3915461"/>
            <a:ext cx="307238" cy="307238"/>
          </a:xfrm>
          <a:prstGeom prst="rect">
            <a:avLst/>
          </a:prstGeom>
        </p:spPr>
      </p:pic>
      <p:sp>
        <p:nvSpPr>
          <p:cNvPr id="17" name="Text 11"/>
          <p:cNvSpPr txBox="1"/>
          <p:nvPr/>
        </p:nvSpPr>
        <p:spPr>
          <a:xfrm>
            <a:off x="1325880" y="3776472"/>
            <a:ext cx="4206240" cy="320040"/>
          </a:xfrm>
          <a:prstGeom prst="rect">
            <a:avLst/>
          </a:prstGeom>
          <a:noFill/>
          <a:ln/>
        </p:spPr>
        <p:txBody>
          <a:bodyPr wrap="square" lIns="0" tIns="0" rIns="0" bIns="0" rtlCol="0" anchor="ctr"/>
          <a:lstStyle/>
          <a:p>
            <a:pPr indent="0" marL="0">
              <a:buNone/>
            </a:pPr>
            <a:r>
              <a:rPr lang="en-US" sz="1700" b="1" dirty="0">
                <a:solidFill>
                  <a:schemeClr val="tx2"/>
                </a:solidFill>
              </a:rPr>
              <a:t>Node.js 20.20.2</a:t>
            </a:r>
            <a:endParaRPr lang="en-US" sz="1700" dirty="0"/>
          </a:p>
        </p:txBody>
      </p:sp>
      <p:sp>
        <p:nvSpPr>
          <p:cNvPr id="18" name="Text 12"/>
          <p:cNvSpPr txBox="1"/>
          <p:nvPr/>
        </p:nvSpPr>
        <p:spPr>
          <a:xfrm>
            <a:off x="1325880" y="4087368"/>
            <a:ext cx="4206240" cy="320040"/>
          </a:xfrm>
          <a:prstGeom prst="rect">
            <a:avLst/>
          </a:prstGeom>
          <a:noFill/>
          <a:ln/>
        </p:spPr>
        <p:txBody>
          <a:bodyPr wrap="square" lIns="0" tIns="0" rIns="0" bIns="0" rtlCol="0" anchor="ctr"/>
          <a:lstStyle/>
          <a:p>
            <a:pPr indent="0" marL="0">
              <a:buNone/>
            </a:pPr>
            <a:r>
              <a:rPr lang="en-US" sz="1400" dirty="0">
                <a:solidFill>
                  <a:schemeClr val="tx1"/>
                </a:solidFill>
              </a:rPr>
              <a:t>Branche LTS 20 : version minimale exigée par React Native 0.86</a:t>
            </a:r>
            <a:endParaRPr lang="en-US" sz="1400" dirty="0"/>
          </a:p>
        </p:txBody>
      </p:sp>
      <p:sp>
        <p:nvSpPr>
          <p:cNvPr id="19" name="Shape 13"/>
          <p:cNvSpPr/>
          <p:nvPr/>
        </p:nvSpPr>
        <p:spPr>
          <a:xfrm>
            <a:off x="5852160" y="1188720"/>
            <a:ext cx="2743200" cy="3246120"/>
          </a:xfrm>
          <a:prstGeom prst="roundRect">
            <a:avLst>
              <a:gd name="adj" fmla="val 4000"/>
            </a:avLst>
          </a:prstGeom>
          <a:solidFill>
            <a:schemeClr val="tx2"/>
          </a:solidFill>
          <a:ln w="12700">
            <a:solidFill>
              <a:schemeClr val="tx2"/>
            </a:solidFill>
            <a:prstDash val="solid"/>
          </a:ln>
        </p:spPr>
      </p:sp>
      <p:sp>
        <p:nvSpPr>
          <p:cNvPr id="20" name="Text 14"/>
          <p:cNvSpPr txBox="1"/>
          <p:nvPr/>
        </p:nvSpPr>
        <p:spPr>
          <a:xfrm>
            <a:off x="6080760" y="1371600"/>
            <a:ext cx="2331720" cy="288036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Pourquoi Node 20.20.2 ?</a:t>
            </a:r>
            <a:endParaRPr lang="en-US" sz="1600" dirty="0"/>
          </a:p>
          <a:p>
            <a:pPr indent="0" marL="0">
              <a:spcAft>
                <a:spcPts val="800"/>
              </a:spcAft>
              <a:buNone/>
            </a:pPr>
            <a:r>
              <a:rPr lang="en-US" sz="1400" dirty="0">
                <a:solidFill>
                  <a:schemeClr val="bg1"/>
                </a:solidFill>
              </a:rPr>
              <a:t>La consigne demande Node 20.18.0. Pour la démo sur iPhone, Expo Go (App Store) impose le dernier SDK, dont React Native exige Node ≥ 20.19.4. Même branche LTS 20, versions documentées dans le README.</a:t>
            </a:r>
            <a:endParaRPr lang="en-US" sz="16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Architecture et données</a:t>
            </a:r>
            <a:endParaRPr lang="en-US" sz="3000" dirty="0"/>
          </a:p>
        </p:txBody>
      </p:sp>
      <p:sp>
        <p:nvSpPr>
          <p:cNvPr id="3" name="Shape 1"/>
          <p:cNvSpPr/>
          <p:nvPr/>
        </p:nvSpPr>
        <p:spPr>
          <a:xfrm>
            <a:off x="548640" y="1234440"/>
            <a:ext cx="1783080" cy="1097280"/>
          </a:xfrm>
          <a:prstGeom prst="roundRect">
            <a:avLst>
              <a:gd name="adj" fmla="val 10000"/>
            </a:avLst>
          </a:prstGeom>
          <a:solidFill>
            <a:schemeClr val="bg2"/>
          </a:solidFill>
          <a:ln w="12700">
            <a:solidFill>
              <a:schemeClr val="bg2"/>
            </a:solidFill>
            <a:prstDash val="solid"/>
          </a:ln>
        </p:spPr>
      </p:sp>
      <p:sp>
        <p:nvSpPr>
          <p:cNvPr id="4" name="Text 2"/>
          <p:cNvSpPr txBox="1"/>
          <p:nvPr/>
        </p:nvSpPr>
        <p:spPr>
          <a:xfrm>
            <a:off x="685800" y="1325880"/>
            <a:ext cx="1508760" cy="411480"/>
          </a:xfrm>
          <a:prstGeom prst="rect">
            <a:avLst/>
          </a:prstGeom>
          <a:noFill/>
          <a:ln/>
        </p:spPr>
        <p:txBody>
          <a:bodyPr wrap="square" lIns="0" tIns="0" rIns="0" bIns="0" rtlCol="0" anchor="ctr"/>
          <a:lstStyle/>
          <a:p>
            <a:pPr algn="ctr" indent="0" marL="0">
              <a:buNone/>
            </a:pPr>
            <a:r>
              <a:rPr lang="en-US" sz="1600" b="1" dirty="0">
                <a:solidFill>
                  <a:schemeClr val="tx2"/>
                </a:solidFill>
              </a:rPr>
              <a:t>Écrans</a:t>
            </a:r>
            <a:endParaRPr lang="en-US" sz="1600" dirty="0"/>
          </a:p>
        </p:txBody>
      </p:sp>
      <p:sp>
        <p:nvSpPr>
          <p:cNvPr id="5" name="Text 3"/>
          <p:cNvSpPr txBox="1"/>
          <p:nvPr/>
        </p:nvSpPr>
        <p:spPr>
          <a:xfrm>
            <a:off x="685800" y="1737360"/>
            <a:ext cx="1508760" cy="502920"/>
          </a:xfrm>
          <a:prstGeom prst="rect">
            <a:avLst/>
          </a:prstGeom>
          <a:noFill/>
          <a:ln/>
        </p:spPr>
        <p:txBody>
          <a:bodyPr wrap="square" lIns="0" tIns="0" rIns="0" bIns="0" rtlCol="0" anchor="ctr"/>
          <a:lstStyle/>
          <a:p>
            <a:pPr algn="ctr" indent="0" marL="0">
              <a:buNone/>
            </a:pPr>
            <a:r>
              <a:rPr lang="en-US" sz="1200" dirty="0">
                <a:solidFill>
                  <a:schemeClr val="tx1"/>
                </a:solidFill>
              </a:rPr>
              <a:t>app/ + src/screens</a:t>
            </a:r>
            <a:endParaRPr lang="en-US" sz="1200" dirty="0"/>
          </a:p>
        </p:txBody>
      </p:sp>
      <p:pic>
        <p:nvPicPr>
          <p:cNvPr id="6" name="Image 0" descr="preencoded.png">    </p:cNvPr>
          <p:cNvPicPr>
            <a:picLocks noChangeAspect="1"/>
          </p:cNvPicPr>
          <p:nvPr/>
        </p:nvPicPr>
        <p:blipFill>
          <a:blip r:embed="rId1"/>
          <a:stretch>
            <a:fillRect/>
          </a:stretch>
        </p:blipFill>
        <p:spPr>
          <a:xfrm>
            <a:off x="2377440" y="1645920"/>
            <a:ext cx="182880" cy="182880"/>
          </a:xfrm>
          <a:prstGeom prst="rect">
            <a:avLst/>
          </a:prstGeom>
        </p:spPr>
      </p:pic>
      <p:sp>
        <p:nvSpPr>
          <p:cNvPr id="7" name="Shape 4"/>
          <p:cNvSpPr/>
          <p:nvPr/>
        </p:nvSpPr>
        <p:spPr>
          <a:xfrm>
            <a:off x="2606040" y="1234440"/>
            <a:ext cx="1783080" cy="1097280"/>
          </a:xfrm>
          <a:prstGeom prst="roundRect">
            <a:avLst>
              <a:gd name="adj" fmla="val 10000"/>
            </a:avLst>
          </a:prstGeom>
          <a:solidFill>
            <a:schemeClr val="bg2"/>
          </a:solidFill>
          <a:ln w="12700">
            <a:solidFill>
              <a:schemeClr val="bg2"/>
            </a:solidFill>
            <a:prstDash val="solid"/>
          </a:ln>
        </p:spPr>
      </p:sp>
      <p:sp>
        <p:nvSpPr>
          <p:cNvPr id="8" name="Text 5"/>
          <p:cNvSpPr txBox="1"/>
          <p:nvPr/>
        </p:nvSpPr>
        <p:spPr>
          <a:xfrm>
            <a:off x="2743200" y="1325880"/>
            <a:ext cx="1508760" cy="411480"/>
          </a:xfrm>
          <a:prstGeom prst="rect">
            <a:avLst/>
          </a:prstGeom>
          <a:noFill/>
          <a:ln/>
        </p:spPr>
        <p:txBody>
          <a:bodyPr wrap="square" lIns="0" tIns="0" rIns="0" bIns="0" rtlCol="0" anchor="ctr"/>
          <a:lstStyle/>
          <a:p>
            <a:pPr algn="ctr" indent="0" marL="0">
              <a:buNone/>
            </a:pPr>
            <a:r>
              <a:rPr lang="en-US" sz="1600" b="1" dirty="0">
                <a:solidFill>
                  <a:schemeClr val="tx2"/>
                </a:solidFill>
              </a:rPr>
              <a:t>Hooks &amp; contexte</a:t>
            </a:r>
            <a:endParaRPr lang="en-US" sz="1600" dirty="0"/>
          </a:p>
        </p:txBody>
      </p:sp>
      <p:sp>
        <p:nvSpPr>
          <p:cNvPr id="9" name="Text 6"/>
          <p:cNvSpPr txBox="1"/>
          <p:nvPr/>
        </p:nvSpPr>
        <p:spPr>
          <a:xfrm>
            <a:off x="2743200" y="1737360"/>
            <a:ext cx="1508760" cy="502920"/>
          </a:xfrm>
          <a:prstGeom prst="rect">
            <a:avLst/>
          </a:prstGeom>
          <a:noFill/>
          <a:ln/>
        </p:spPr>
        <p:txBody>
          <a:bodyPr wrap="square" lIns="0" tIns="0" rIns="0" bIns="0" rtlCol="0" anchor="ctr"/>
          <a:lstStyle/>
          <a:p>
            <a:pPr algn="ctr" indent="0" marL="0">
              <a:buNone/>
            </a:pPr>
            <a:r>
              <a:rPr lang="en-US" sz="1200" dirty="0">
                <a:solidFill>
                  <a:schemeClr val="tx1"/>
                </a:solidFill>
              </a:rPr>
              <a:t>useAuth, useAddresses…</a:t>
            </a:r>
            <a:endParaRPr lang="en-US" sz="1200" dirty="0"/>
          </a:p>
        </p:txBody>
      </p:sp>
      <p:pic>
        <p:nvPicPr>
          <p:cNvPr id="10" name="Image 1" descr="preencoded.png">    </p:cNvPr>
          <p:cNvPicPr>
            <a:picLocks noChangeAspect="1"/>
          </p:cNvPicPr>
          <p:nvPr/>
        </p:nvPicPr>
        <p:blipFill>
          <a:blip r:embed="rId2"/>
          <a:stretch>
            <a:fillRect/>
          </a:stretch>
        </p:blipFill>
        <p:spPr>
          <a:xfrm>
            <a:off x="4434840" y="1645920"/>
            <a:ext cx="182880" cy="182880"/>
          </a:xfrm>
          <a:prstGeom prst="rect">
            <a:avLst/>
          </a:prstGeom>
        </p:spPr>
      </p:pic>
      <p:sp>
        <p:nvSpPr>
          <p:cNvPr id="11" name="Shape 7"/>
          <p:cNvSpPr/>
          <p:nvPr/>
        </p:nvSpPr>
        <p:spPr>
          <a:xfrm>
            <a:off x="4663440" y="1234440"/>
            <a:ext cx="1783080" cy="1097280"/>
          </a:xfrm>
          <a:prstGeom prst="roundRect">
            <a:avLst>
              <a:gd name="adj" fmla="val 10000"/>
            </a:avLst>
          </a:prstGeom>
          <a:solidFill>
            <a:schemeClr val="bg2"/>
          </a:solidFill>
          <a:ln w="12700">
            <a:solidFill>
              <a:schemeClr val="bg2"/>
            </a:solidFill>
            <a:prstDash val="solid"/>
          </a:ln>
        </p:spPr>
      </p:sp>
      <p:sp>
        <p:nvSpPr>
          <p:cNvPr id="12" name="Text 8"/>
          <p:cNvSpPr txBox="1"/>
          <p:nvPr/>
        </p:nvSpPr>
        <p:spPr>
          <a:xfrm>
            <a:off x="4800600" y="1325880"/>
            <a:ext cx="1508760" cy="411480"/>
          </a:xfrm>
          <a:prstGeom prst="rect">
            <a:avLst/>
          </a:prstGeom>
          <a:noFill/>
          <a:ln/>
        </p:spPr>
        <p:txBody>
          <a:bodyPr wrap="square" lIns="0" tIns="0" rIns="0" bIns="0" rtlCol="0" anchor="ctr"/>
          <a:lstStyle/>
          <a:p>
            <a:pPr algn="ctr" indent="0" marL="0">
              <a:buNone/>
            </a:pPr>
            <a:r>
              <a:rPr lang="en-US" sz="1600" b="1" dirty="0">
                <a:solidFill>
                  <a:schemeClr val="tx2"/>
                </a:solidFill>
              </a:rPr>
              <a:t>Services</a:t>
            </a:r>
            <a:endParaRPr lang="en-US" sz="1600" dirty="0"/>
          </a:p>
        </p:txBody>
      </p:sp>
      <p:sp>
        <p:nvSpPr>
          <p:cNvPr id="13" name="Text 9"/>
          <p:cNvSpPr txBox="1"/>
          <p:nvPr/>
        </p:nvSpPr>
        <p:spPr>
          <a:xfrm>
            <a:off x="4800600" y="1737360"/>
            <a:ext cx="1508760" cy="502920"/>
          </a:xfrm>
          <a:prstGeom prst="rect">
            <a:avLst/>
          </a:prstGeom>
          <a:noFill/>
          <a:ln/>
        </p:spPr>
        <p:txBody>
          <a:bodyPr wrap="square" lIns="0" tIns="0" rIns="0" bIns="0" rtlCol="0" anchor="ctr"/>
          <a:lstStyle/>
          <a:p>
            <a:pPr algn="ctr" indent="0" marL="0">
              <a:buNone/>
            </a:pPr>
            <a:r>
              <a:rPr lang="en-US" sz="1200" dirty="0">
                <a:solidFill>
                  <a:schemeClr val="tx1"/>
                </a:solidFill>
              </a:rPr>
              <a:t>auth, adresses, avis, photos</a:t>
            </a:r>
            <a:endParaRPr lang="en-US" sz="1200" dirty="0"/>
          </a:p>
        </p:txBody>
      </p:sp>
      <p:pic>
        <p:nvPicPr>
          <p:cNvPr id="14" name="Image 2" descr="preencoded.png">    </p:cNvPr>
          <p:cNvPicPr>
            <a:picLocks noChangeAspect="1"/>
          </p:cNvPicPr>
          <p:nvPr/>
        </p:nvPicPr>
        <p:blipFill>
          <a:blip r:embed="rId3"/>
          <a:stretch>
            <a:fillRect/>
          </a:stretch>
        </p:blipFill>
        <p:spPr>
          <a:xfrm>
            <a:off x="6492240" y="1645920"/>
            <a:ext cx="182880" cy="182880"/>
          </a:xfrm>
          <a:prstGeom prst="rect">
            <a:avLst/>
          </a:prstGeom>
        </p:spPr>
      </p:pic>
      <p:sp>
        <p:nvSpPr>
          <p:cNvPr id="15" name="Shape 10"/>
          <p:cNvSpPr/>
          <p:nvPr/>
        </p:nvSpPr>
        <p:spPr>
          <a:xfrm>
            <a:off x="6720840" y="1234440"/>
            <a:ext cx="1783080" cy="1097280"/>
          </a:xfrm>
          <a:prstGeom prst="roundRect">
            <a:avLst>
              <a:gd name="adj" fmla="val 10000"/>
            </a:avLst>
          </a:prstGeom>
          <a:solidFill>
            <a:schemeClr val="accent1"/>
          </a:solidFill>
          <a:ln w="12700">
            <a:solidFill>
              <a:schemeClr val="accent1"/>
            </a:solidFill>
            <a:prstDash val="solid"/>
          </a:ln>
        </p:spPr>
      </p:sp>
      <p:sp>
        <p:nvSpPr>
          <p:cNvPr id="16" name="Text 11"/>
          <p:cNvSpPr txBox="1"/>
          <p:nvPr/>
        </p:nvSpPr>
        <p:spPr>
          <a:xfrm>
            <a:off x="6858000" y="1325880"/>
            <a:ext cx="1508760" cy="411480"/>
          </a:xfrm>
          <a:prstGeom prst="rect">
            <a:avLst/>
          </a:prstGeom>
          <a:noFill/>
          <a:ln/>
        </p:spPr>
        <p:txBody>
          <a:bodyPr wrap="square" lIns="0" tIns="0" rIns="0" bIns="0" rtlCol="0" anchor="ctr"/>
          <a:lstStyle/>
          <a:p>
            <a:pPr algn="ctr" indent="0" marL="0">
              <a:buNone/>
            </a:pPr>
            <a:r>
              <a:rPr lang="en-US" sz="1600" b="1" dirty="0">
                <a:solidFill>
                  <a:schemeClr val="bg1"/>
                </a:solidFill>
              </a:rPr>
              <a:t>Firebase</a:t>
            </a:r>
            <a:endParaRPr lang="en-US" sz="1600" dirty="0"/>
          </a:p>
        </p:txBody>
      </p:sp>
      <p:sp>
        <p:nvSpPr>
          <p:cNvPr id="17" name="Text 12"/>
          <p:cNvSpPr txBox="1"/>
          <p:nvPr/>
        </p:nvSpPr>
        <p:spPr>
          <a:xfrm>
            <a:off x="6858000" y="1737360"/>
            <a:ext cx="1508760" cy="502920"/>
          </a:xfrm>
          <a:prstGeom prst="rect">
            <a:avLst/>
          </a:prstGeom>
          <a:noFill/>
          <a:ln/>
        </p:spPr>
        <p:txBody>
          <a:bodyPr wrap="square" lIns="0" tIns="0" rIns="0" bIns="0" rtlCol="0" anchor="ctr"/>
          <a:lstStyle/>
          <a:p>
            <a:pPr algn="ctr" indent="0" marL="0">
              <a:buNone/>
            </a:pPr>
            <a:r>
              <a:rPr lang="en-US" sz="1200" dirty="0">
                <a:solidFill>
                  <a:schemeClr val="bg1"/>
                </a:solidFill>
              </a:rPr>
              <a:t>Auth · Firestore · Storage</a:t>
            </a:r>
            <a:endParaRPr lang="en-US" sz="1200" dirty="0"/>
          </a:p>
        </p:txBody>
      </p:sp>
      <p:sp>
        <p:nvSpPr>
          <p:cNvPr id="18" name="Text 13"/>
          <p:cNvSpPr txBox="1"/>
          <p:nvPr/>
        </p:nvSpPr>
        <p:spPr>
          <a:xfrm>
            <a:off x="548640" y="2606040"/>
            <a:ext cx="8046720" cy="365760"/>
          </a:xfrm>
          <a:prstGeom prst="rect">
            <a:avLst/>
          </a:prstGeom>
          <a:noFill/>
          <a:ln/>
        </p:spPr>
        <p:txBody>
          <a:bodyPr wrap="square" lIns="0" tIns="0" rIns="0" bIns="0" rtlCol="0" anchor="ctr"/>
          <a:lstStyle/>
          <a:p>
            <a:pPr indent="0" marL="0">
              <a:buNone/>
            </a:pPr>
            <a:r>
              <a:rPr lang="en-US" sz="1800" b="1" dirty="0">
                <a:solidFill>
                  <a:schemeClr val="tx2"/>
                </a:solidFill>
              </a:rPr>
              <a:t>Modèle Firestore</a:t>
            </a:r>
            <a:endParaRPr lang="en-US" sz="1800" dirty="0"/>
          </a:p>
        </p:txBody>
      </p:sp>
      <p:sp>
        <p:nvSpPr>
          <p:cNvPr id="19" name="Shape 14"/>
          <p:cNvSpPr/>
          <p:nvPr/>
        </p:nvSpPr>
        <p:spPr>
          <a:xfrm>
            <a:off x="548640" y="3063240"/>
            <a:ext cx="365760" cy="36576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629107" y="3143707"/>
            <a:ext cx="204826" cy="204826"/>
          </a:xfrm>
          <a:prstGeom prst="rect">
            <a:avLst/>
          </a:prstGeom>
        </p:spPr>
      </p:pic>
      <p:sp>
        <p:nvSpPr>
          <p:cNvPr id="21" name="Text 15"/>
          <p:cNvSpPr txBox="1"/>
          <p:nvPr/>
        </p:nvSpPr>
        <p:spPr>
          <a:xfrm>
            <a:off x="1051560" y="3063240"/>
            <a:ext cx="749808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users/{uid}  </a:t>
            </a:r>
            <a:pPr indent="0" marL="0">
              <a:buNone/>
            </a:pPr>
            <a:r>
              <a:rPr lang="en-US" sz="1400" dirty="0">
                <a:solidFill>
                  <a:schemeClr val="tx1"/>
                </a:solidFill>
              </a:rPr>
              <a:t>nom, e-mail, photo de profil</a:t>
            </a:r>
            <a:endParaRPr lang="en-US" sz="1400" dirty="0"/>
          </a:p>
        </p:txBody>
      </p:sp>
      <p:sp>
        <p:nvSpPr>
          <p:cNvPr id="22" name="Shape 16"/>
          <p:cNvSpPr/>
          <p:nvPr/>
        </p:nvSpPr>
        <p:spPr>
          <a:xfrm>
            <a:off x="548640" y="3566160"/>
            <a:ext cx="365760" cy="365760"/>
          </a:xfrm>
          <a:prstGeom prst="ellipse">
            <a:avLst/>
          </a:prstGeom>
          <a:solidFill>
            <a:schemeClr val="accent1"/>
          </a:solidFill>
          <a:ln w="12700">
            <a:solidFill>
              <a:schemeClr val="accent1"/>
            </a:solidFill>
            <a:prstDash val="solid"/>
          </a:ln>
        </p:spPr>
      </p:sp>
      <p:pic>
        <p:nvPicPr>
          <p:cNvPr id="23" name="Image 4" descr="preencoded.png">    </p:cNvPr>
          <p:cNvPicPr>
            <a:picLocks noChangeAspect="1"/>
          </p:cNvPicPr>
          <p:nvPr/>
        </p:nvPicPr>
        <p:blipFill>
          <a:blip r:embed="rId5"/>
          <a:stretch>
            <a:fillRect/>
          </a:stretch>
        </p:blipFill>
        <p:spPr>
          <a:xfrm>
            <a:off x="629107" y="3646627"/>
            <a:ext cx="204826" cy="204826"/>
          </a:xfrm>
          <a:prstGeom prst="rect">
            <a:avLst/>
          </a:prstGeom>
        </p:spPr>
      </p:pic>
      <p:sp>
        <p:nvSpPr>
          <p:cNvPr id="24" name="Text 17"/>
          <p:cNvSpPr txBox="1"/>
          <p:nvPr/>
        </p:nvSpPr>
        <p:spPr>
          <a:xfrm>
            <a:off x="1051560" y="3566160"/>
            <a:ext cx="749808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addresses/{id}  </a:t>
            </a:r>
            <a:pPr indent="0" marL="0">
              <a:buNone/>
            </a:pPr>
            <a:r>
              <a:rPr lang="en-US" sz="1400" dirty="0">
                <a:solidFill>
                  <a:schemeClr val="tx1"/>
                </a:solidFill>
              </a:rPr>
              <a:t>propriétaire, nom, description, photo, isPublic, coordonnées</a:t>
            </a:r>
            <a:endParaRPr lang="en-US" sz="1400" dirty="0"/>
          </a:p>
        </p:txBody>
      </p:sp>
      <p:sp>
        <p:nvSpPr>
          <p:cNvPr id="25" name="Shape 18"/>
          <p:cNvSpPr/>
          <p:nvPr/>
        </p:nvSpPr>
        <p:spPr>
          <a:xfrm>
            <a:off x="548640" y="4069080"/>
            <a:ext cx="365760" cy="365760"/>
          </a:xfrm>
          <a:prstGeom prst="ellipse">
            <a:avLst/>
          </a:prstGeom>
          <a:solidFill>
            <a:schemeClr val="accent1"/>
          </a:solidFill>
          <a:ln w="12700">
            <a:solidFill>
              <a:schemeClr val="accent1"/>
            </a:solidFill>
            <a:prstDash val="solid"/>
          </a:ln>
        </p:spPr>
      </p:sp>
      <p:pic>
        <p:nvPicPr>
          <p:cNvPr id="26" name="Image 5" descr="preencoded.png">    </p:cNvPr>
          <p:cNvPicPr>
            <a:picLocks noChangeAspect="1"/>
          </p:cNvPicPr>
          <p:nvPr/>
        </p:nvPicPr>
        <p:blipFill>
          <a:blip r:embed="rId6"/>
          <a:stretch>
            <a:fillRect/>
          </a:stretch>
        </p:blipFill>
        <p:spPr>
          <a:xfrm>
            <a:off x="629107" y="4149547"/>
            <a:ext cx="204826" cy="204826"/>
          </a:xfrm>
          <a:prstGeom prst="rect">
            <a:avLst/>
          </a:prstGeom>
        </p:spPr>
      </p:pic>
      <p:sp>
        <p:nvSpPr>
          <p:cNvPr id="27" name="Text 19"/>
          <p:cNvSpPr txBox="1"/>
          <p:nvPr/>
        </p:nvSpPr>
        <p:spPr>
          <a:xfrm>
            <a:off x="1051560" y="4069080"/>
            <a:ext cx="7498080" cy="36576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addresses/{id}/reviews/{id}  </a:t>
            </a:r>
            <a:pPr indent="0" marL="0">
              <a:buNone/>
            </a:pPr>
            <a:r>
              <a:rPr lang="en-US" sz="1400" dirty="0">
                <a:solidFill>
                  <a:schemeClr val="tx1"/>
                </a:solidFill>
              </a:rPr>
              <a:t>auteur, note 1–5, commentaire, photo</a:t>
            </a:r>
            <a:endParaRPr lang="en-US" sz="14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Un projet Firebase sécurisé</a:t>
            </a:r>
            <a:endParaRPr lang="en-US" sz="3000" dirty="0"/>
          </a:p>
        </p:txBody>
      </p:sp>
      <p:sp>
        <p:nvSpPr>
          <p:cNvPr id="3" name="Shape 1"/>
          <p:cNvSpPr/>
          <p:nvPr/>
        </p:nvSpPr>
        <p:spPr>
          <a:xfrm>
            <a:off x="548640" y="1234440"/>
            <a:ext cx="2560320" cy="1371600"/>
          </a:xfrm>
          <a:prstGeom prst="roundRect">
            <a:avLst>
              <a:gd name="adj" fmla="val 8000"/>
            </a:avLst>
          </a:prstGeom>
          <a:solidFill>
            <a:schemeClr val="bg2"/>
          </a:solidFill>
          <a:ln w="12700">
            <a:solidFill>
              <a:schemeClr val="bg2"/>
            </a:solidFill>
            <a:prstDash val="solid"/>
          </a:ln>
        </p:spPr>
      </p:sp>
      <p:sp>
        <p:nvSpPr>
          <p:cNvPr id="4" name="Shape 2"/>
          <p:cNvSpPr/>
          <p:nvPr/>
        </p:nvSpPr>
        <p:spPr>
          <a:xfrm>
            <a:off x="777240" y="146304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77824" y="1563624"/>
            <a:ext cx="256032" cy="256032"/>
          </a:xfrm>
          <a:prstGeom prst="rect">
            <a:avLst/>
          </a:prstGeom>
        </p:spPr>
      </p:pic>
      <p:sp>
        <p:nvSpPr>
          <p:cNvPr id="6" name="Text 3"/>
          <p:cNvSpPr txBox="1"/>
          <p:nvPr/>
        </p:nvSpPr>
        <p:spPr>
          <a:xfrm>
            <a:off x="1371600" y="14630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Connexion obligatoire</a:t>
            </a:r>
            <a:endParaRPr lang="en-US" sz="1500" dirty="0"/>
          </a:p>
        </p:txBody>
      </p:sp>
      <p:sp>
        <p:nvSpPr>
          <p:cNvPr id="7" name="Text 4"/>
          <p:cNvSpPr txBox="1"/>
          <p:nvPr/>
        </p:nvSpPr>
        <p:spPr>
          <a:xfrm>
            <a:off x="777240" y="2011680"/>
            <a:ext cx="2194560" cy="502920"/>
          </a:xfrm>
          <a:prstGeom prst="rect">
            <a:avLst/>
          </a:prstGeom>
          <a:noFill/>
          <a:ln/>
        </p:spPr>
        <p:txBody>
          <a:bodyPr wrap="square" lIns="0" tIns="0" rIns="0" bIns="0" rtlCol="0" anchor="t"/>
          <a:lstStyle/>
          <a:p>
            <a:pPr indent="0" marL="0">
              <a:buNone/>
            </a:pPr>
            <a:r>
              <a:rPr lang="en-US" sz="1200" dirty="0">
                <a:solidFill>
                  <a:schemeClr val="tx1"/>
                </a:solidFill>
              </a:rPr>
              <a:t>Aucune lecture ni écriture sans compte</a:t>
            </a:r>
            <a:endParaRPr lang="en-US" sz="1200" dirty="0"/>
          </a:p>
        </p:txBody>
      </p:sp>
      <p:sp>
        <p:nvSpPr>
          <p:cNvPr id="8" name="Shape 5"/>
          <p:cNvSpPr/>
          <p:nvPr/>
        </p:nvSpPr>
        <p:spPr>
          <a:xfrm>
            <a:off x="3291840" y="1234440"/>
            <a:ext cx="2560320" cy="1371600"/>
          </a:xfrm>
          <a:prstGeom prst="roundRect">
            <a:avLst>
              <a:gd name="adj" fmla="val 8000"/>
            </a:avLst>
          </a:prstGeom>
          <a:solidFill>
            <a:schemeClr val="bg2"/>
          </a:solidFill>
          <a:ln w="12700">
            <a:solidFill>
              <a:schemeClr val="bg2"/>
            </a:solidFill>
            <a:prstDash val="solid"/>
          </a:ln>
        </p:spPr>
      </p:sp>
      <p:sp>
        <p:nvSpPr>
          <p:cNvPr id="9" name="Shape 6"/>
          <p:cNvSpPr/>
          <p:nvPr/>
        </p:nvSpPr>
        <p:spPr>
          <a:xfrm>
            <a:off x="3520440" y="146304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21024" y="1563624"/>
            <a:ext cx="256032" cy="256032"/>
          </a:xfrm>
          <a:prstGeom prst="rect">
            <a:avLst/>
          </a:prstGeom>
        </p:spPr>
      </p:pic>
      <p:sp>
        <p:nvSpPr>
          <p:cNvPr id="11" name="Text 7"/>
          <p:cNvSpPr txBox="1"/>
          <p:nvPr/>
        </p:nvSpPr>
        <p:spPr>
          <a:xfrm>
            <a:off x="4114800" y="14630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Adresses privées</a:t>
            </a:r>
            <a:endParaRPr lang="en-US" sz="1500" dirty="0"/>
          </a:p>
        </p:txBody>
      </p:sp>
      <p:sp>
        <p:nvSpPr>
          <p:cNvPr id="12" name="Text 8"/>
          <p:cNvSpPr txBox="1"/>
          <p:nvPr/>
        </p:nvSpPr>
        <p:spPr>
          <a:xfrm>
            <a:off x="3520440" y="2011680"/>
            <a:ext cx="2194560" cy="502920"/>
          </a:xfrm>
          <a:prstGeom prst="rect">
            <a:avLst/>
          </a:prstGeom>
          <a:noFill/>
          <a:ln/>
        </p:spPr>
        <p:txBody>
          <a:bodyPr wrap="square" lIns="0" tIns="0" rIns="0" bIns="0" rtlCol="0" anchor="t"/>
          <a:lstStyle/>
          <a:p>
            <a:pPr indent="0" marL="0">
              <a:buNone/>
            </a:pPr>
            <a:r>
              <a:rPr lang="en-US" sz="1200" dirty="0">
                <a:solidFill>
                  <a:schemeClr val="tx1"/>
                </a:solidFill>
              </a:rPr>
              <a:t>Lisibles uniquement par leur propriétaire</a:t>
            </a:r>
            <a:endParaRPr lang="en-US" sz="1200" dirty="0"/>
          </a:p>
        </p:txBody>
      </p:sp>
      <p:sp>
        <p:nvSpPr>
          <p:cNvPr id="13" name="Shape 9"/>
          <p:cNvSpPr/>
          <p:nvPr/>
        </p:nvSpPr>
        <p:spPr>
          <a:xfrm>
            <a:off x="6035040" y="1234440"/>
            <a:ext cx="2560320" cy="1371600"/>
          </a:xfrm>
          <a:prstGeom prst="roundRect">
            <a:avLst>
              <a:gd name="adj" fmla="val 8000"/>
            </a:avLst>
          </a:prstGeom>
          <a:solidFill>
            <a:schemeClr val="bg2"/>
          </a:solidFill>
          <a:ln w="12700">
            <a:solidFill>
              <a:schemeClr val="bg2"/>
            </a:solidFill>
            <a:prstDash val="solid"/>
          </a:ln>
        </p:spPr>
      </p:sp>
      <p:sp>
        <p:nvSpPr>
          <p:cNvPr id="14" name="Shape 10"/>
          <p:cNvSpPr/>
          <p:nvPr/>
        </p:nvSpPr>
        <p:spPr>
          <a:xfrm>
            <a:off x="6263640" y="146304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364224" y="1563624"/>
            <a:ext cx="256032" cy="256032"/>
          </a:xfrm>
          <a:prstGeom prst="rect">
            <a:avLst/>
          </a:prstGeom>
        </p:spPr>
      </p:pic>
      <p:sp>
        <p:nvSpPr>
          <p:cNvPr id="16" name="Text 11"/>
          <p:cNvSpPr txBox="1"/>
          <p:nvPr/>
        </p:nvSpPr>
        <p:spPr>
          <a:xfrm>
            <a:off x="6858000" y="14630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Propriétaire seulement</a:t>
            </a:r>
            <a:endParaRPr lang="en-US" sz="1500" dirty="0"/>
          </a:p>
        </p:txBody>
      </p:sp>
      <p:sp>
        <p:nvSpPr>
          <p:cNvPr id="17" name="Text 12"/>
          <p:cNvSpPr txBox="1"/>
          <p:nvPr/>
        </p:nvSpPr>
        <p:spPr>
          <a:xfrm>
            <a:off x="6263640" y="2011680"/>
            <a:ext cx="2194560" cy="502920"/>
          </a:xfrm>
          <a:prstGeom prst="rect">
            <a:avLst/>
          </a:prstGeom>
          <a:noFill/>
          <a:ln/>
        </p:spPr>
        <p:txBody>
          <a:bodyPr wrap="square" lIns="0" tIns="0" rIns="0" bIns="0" rtlCol="0" anchor="t"/>
          <a:lstStyle/>
          <a:p>
            <a:pPr indent="0" marL="0">
              <a:buNone/>
            </a:pPr>
            <a:r>
              <a:rPr lang="en-US" sz="1200" dirty="0">
                <a:solidFill>
                  <a:schemeClr val="tx1"/>
                </a:solidFill>
              </a:rPr>
              <a:t>Créer à son nom, modifier et supprimer ses adresses</a:t>
            </a:r>
            <a:endParaRPr lang="en-US" sz="1200" dirty="0"/>
          </a:p>
        </p:txBody>
      </p:sp>
      <p:sp>
        <p:nvSpPr>
          <p:cNvPr id="18" name="Shape 13"/>
          <p:cNvSpPr/>
          <p:nvPr/>
        </p:nvSpPr>
        <p:spPr>
          <a:xfrm>
            <a:off x="548640" y="2834640"/>
            <a:ext cx="2560320" cy="1371600"/>
          </a:xfrm>
          <a:prstGeom prst="roundRect">
            <a:avLst>
              <a:gd name="adj" fmla="val 8000"/>
            </a:avLst>
          </a:prstGeom>
          <a:solidFill>
            <a:schemeClr val="bg2"/>
          </a:solidFill>
          <a:ln w="12700">
            <a:solidFill>
              <a:schemeClr val="bg2"/>
            </a:solidFill>
            <a:prstDash val="solid"/>
          </a:ln>
        </p:spPr>
      </p:sp>
      <p:sp>
        <p:nvSpPr>
          <p:cNvPr id="19" name="Shape 14"/>
          <p:cNvSpPr/>
          <p:nvPr/>
        </p:nvSpPr>
        <p:spPr>
          <a:xfrm>
            <a:off x="777240" y="3063240"/>
            <a:ext cx="457200" cy="45720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877824" y="3163824"/>
            <a:ext cx="256032" cy="256032"/>
          </a:xfrm>
          <a:prstGeom prst="rect">
            <a:avLst/>
          </a:prstGeom>
        </p:spPr>
      </p:pic>
      <p:sp>
        <p:nvSpPr>
          <p:cNvPr id="21" name="Text 15"/>
          <p:cNvSpPr txBox="1"/>
          <p:nvPr/>
        </p:nvSpPr>
        <p:spPr>
          <a:xfrm>
            <a:off x="1371600" y="30632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Données validées</a:t>
            </a:r>
            <a:endParaRPr lang="en-US" sz="1500" dirty="0"/>
          </a:p>
        </p:txBody>
      </p:sp>
      <p:sp>
        <p:nvSpPr>
          <p:cNvPr id="22" name="Text 16"/>
          <p:cNvSpPr txBox="1"/>
          <p:nvPr/>
        </p:nvSpPr>
        <p:spPr>
          <a:xfrm>
            <a:off x="777240" y="3611880"/>
            <a:ext cx="2194560" cy="502920"/>
          </a:xfrm>
          <a:prstGeom prst="rect">
            <a:avLst/>
          </a:prstGeom>
          <a:noFill/>
          <a:ln/>
        </p:spPr>
        <p:txBody>
          <a:bodyPr wrap="square" lIns="0" tIns="0" rIns="0" bIns="0" rtlCol="0" anchor="t"/>
          <a:lstStyle/>
          <a:p>
            <a:pPr indent="0" marL="0">
              <a:buNone/>
            </a:pPr>
            <a:r>
              <a:rPr lang="en-US" sz="1200" dirty="0">
                <a:solidFill>
                  <a:schemeClr val="tx1"/>
                </a:solidFill>
              </a:rPr>
              <a:t>Nom 1–80 car., note entière 1–5, coordonnées valides</a:t>
            </a:r>
            <a:endParaRPr lang="en-US" sz="1200" dirty="0"/>
          </a:p>
        </p:txBody>
      </p:sp>
      <p:sp>
        <p:nvSpPr>
          <p:cNvPr id="23" name="Shape 17"/>
          <p:cNvSpPr/>
          <p:nvPr/>
        </p:nvSpPr>
        <p:spPr>
          <a:xfrm>
            <a:off x="3291840" y="2834640"/>
            <a:ext cx="2560320" cy="1371600"/>
          </a:xfrm>
          <a:prstGeom prst="roundRect">
            <a:avLst>
              <a:gd name="adj" fmla="val 8000"/>
            </a:avLst>
          </a:prstGeom>
          <a:solidFill>
            <a:schemeClr val="bg2"/>
          </a:solidFill>
          <a:ln w="12700">
            <a:solidFill>
              <a:schemeClr val="bg2"/>
            </a:solidFill>
            <a:prstDash val="solid"/>
          </a:ln>
        </p:spPr>
      </p:sp>
      <p:sp>
        <p:nvSpPr>
          <p:cNvPr id="24" name="Shape 18"/>
          <p:cNvSpPr/>
          <p:nvPr/>
        </p:nvSpPr>
        <p:spPr>
          <a:xfrm>
            <a:off x="3520440" y="3063240"/>
            <a:ext cx="457200" cy="45720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3621024" y="3163824"/>
            <a:ext cx="256032" cy="256032"/>
          </a:xfrm>
          <a:prstGeom prst="rect">
            <a:avLst/>
          </a:prstGeom>
        </p:spPr>
      </p:pic>
      <p:sp>
        <p:nvSpPr>
          <p:cNvPr id="26" name="Text 19"/>
          <p:cNvSpPr txBox="1"/>
          <p:nvPr/>
        </p:nvSpPr>
        <p:spPr>
          <a:xfrm>
            <a:off x="4114800" y="30632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Avis encadrés</a:t>
            </a:r>
            <a:endParaRPr lang="en-US" sz="1500" dirty="0"/>
          </a:p>
        </p:txBody>
      </p:sp>
      <p:sp>
        <p:nvSpPr>
          <p:cNvPr id="27" name="Text 20"/>
          <p:cNvSpPr txBox="1"/>
          <p:nvPr/>
        </p:nvSpPr>
        <p:spPr>
          <a:xfrm>
            <a:off x="3520440" y="3611880"/>
            <a:ext cx="2194560" cy="502920"/>
          </a:xfrm>
          <a:prstGeom prst="rect">
            <a:avLst/>
          </a:prstGeom>
          <a:noFill/>
          <a:ln/>
        </p:spPr>
        <p:txBody>
          <a:bodyPr wrap="square" lIns="0" tIns="0" rIns="0" bIns="0" rtlCol="0" anchor="t"/>
          <a:lstStyle/>
          <a:p>
            <a:pPr indent="0" marL="0">
              <a:buNone/>
            </a:pPr>
            <a:r>
              <a:rPr lang="en-US" sz="1200" dirty="0">
                <a:solidFill>
                  <a:schemeClr val="tx1"/>
                </a:solidFill>
              </a:rPr>
              <a:t>Uniquement sur une adresse publique, à son propre nom</a:t>
            </a:r>
            <a:endParaRPr lang="en-US" sz="1200" dirty="0"/>
          </a:p>
        </p:txBody>
      </p:sp>
      <p:sp>
        <p:nvSpPr>
          <p:cNvPr id="28" name="Shape 21"/>
          <p:cNvSpPr/>
          <p:nvPr/>
        </p:nvSpPr>
        <p:spPr>
          <a:xfrm>
            <a:off x="6035040" y="2834640"/>
            <a:ext cx="2560320" cy="1371600"/>
          </a:xfrm>
          <a:prstGeom prst="roundRect">
            <a:avLst>
              <a:gd name="adj" fmla="val 8000"/>
            </a:avLst>
          </a:prstGeom>
          <a:solidFill>
            <a:schemeClr val="bg2"/>
          </a:solidFill>
          <a:ln w="12700">
            <a:solidFill>
              <a:schemeClr val="bg2"/>
            </a:solidFill>
            <a:prstDash val="solid"/>
          </a:ln>
        </p:spPr>
      </p:sp>
      <p:sp>
        <p:nvSpPr>
          <p:cNvPr id="29" name="Shape 22"/>
          <p:cNvSpPr/>
          <p:nvPr/>
        </p:nvSpPr>
        <p:spPr>
          <a:xfrm>
            <a:off x="6263640" y="3063240"/>
            <a:ext cx="457200" cy="45720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6364224" y="3163824"/>
            <a:ext cx="256032" cy="256032"/>
          </a:xfrm>
          <a:prstGeom prst="rect">
            <a:avLst/>
          </a:prstGeom>
        </p:spPr>
      </p:pic>
      <p:sp>
        <p:nvSpPr>
          <p:cNvPr id="31" name="Text 23"/>
          <p:cNvSpPr txBox="1"/>
          <p:nvPr/>
        </p:nvSpPr>
        <p:spPr>
          <a:xfrm>
            <a:off x="6858000" y="3063240"/>
            <a:ext cx="1645920" cy="457200"/>
          </a:xfrm>
          <a:prstGeom prst="rect">
            <a:avLst/>
          </a:prstGeom>
          <a:noFill/>
          <a:ln/>
        </p:spPr>
        <p:txBody>
          <a:bodyPr wrap="square" lIns="0" tIns="0" rIns="0" bIns="0" rtlCol="0" anchor="ctr"/>
          <a:lstStyle/>
          <a:p>
            <a:pPr indent="0" marL="0">
              <a:buNone/>
            </a:pPr>
            <a:r>
              <a:rPr lang="en-US" sz="1500" b="1" dirty="0">
                <a:solidFill>
                  <a:schemeClr val="tx2"/>
                </a:solidFill>
              </a:rPr>
              <a:t>Photos</a:t>
            </a:r>
            <a:endParaRPr lang="en-US" sz="1500" dirty="0"/>
          </a:p>
        </p:txBody>
      </p:sp>
      <p:sp>
        <p:nvSpPr>
          <p:cNvPr id="32" name="Text 24"/>
          <p:cNvSpPr txBox="1"/>
          <p:nvPr/>
        </p:nvSpPr>
        <p:spPr>
          <a:xfrm>
            <a:off x="6263640" y="3611880"/>
            <a:ext cx="2194560" cy="502920"/>
          </a:xfrm>
          <a:prstGeom prst="rect">
            <a:avLst/>
          </a:prstGeom>
          <a:noFill/>
          <a:ln/>
        </p:spPr>
        <p:txBody>
          <a:bodyPr wrap="square" lIns="0" tIns="0" rIns="0" bIns="0" rtlCol="0" anchor="t"/>
          <a:lstStyle/>
          <a:p>
            <a:pPr indent="0" marL="0">
              <a:buNone/>
            </a:pPr>
            <a:r>
              <a:rPr lang="en-US" sz="1200" dirty="0">
                <a:solidFill>
                  <a:schemeClr val="tx1"/>
                </a:solidFill>
              </a:rPr>
              <a:t>Images &lt; 5 Mo, dans son propre dossier Storage</a:t>
            </a:r>
            <a:endParaRPr lang="en-US" sz="12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486400" cy="1188720"/>
          </a:xfrm>
          <a:prstGeom prst="rect">
            <a:avLst/>
          </a:prstGeom>
          <a:noFill/>
          <a:ln/>
        </p:spPr>
        <p:txBody>
          <a:bodyPr wrap="square" lIns="0" tIns="0" rIns="0" bIns="0" rtlCol="0" anchor="b"/>
          <a:lstStyle/>
          <a:p>
            <a:pPr algn="l" indent="0" marL="0">
              <a:buNone/>
            </a:pPr>
            <a:r>
              <a:rPr lang="en-US" sz="3600" b="1" dirty="0">
                <a:solidFill>
                  <a:schemeClr val="bg1"/>
                </a:solidFill>
              </a:rPr>
              <a:t>Démonstration en direct</a:t>
            </a:r>
            <a:endParaRPr lang="en-US" sz="3600" dirty="0"/>
          </a:p>
        </p:txBody>
      </p:sp>
      <p:sp>
        <p:nvSpPr>
          <p:cNvPr id="3" name="Text 0"/>
          <p:cNvSpPr/>
          <p:nvPr>
            <p:ph idx="101" type="body" hasCustomPrompt="1"/>
          </p:nvPr>
        </p:nvSpPr>
        <p:spPr>
          <a:xfrm>
            <a:off x="548640" y="2697480"/>
            <a:ext cx="5486400" cy="1097280"/>
          </a:xfrm>
          <a:prstGeom prst="rect">
            <a:avLst/>
          </a:prstGeom>
          <a:noFill/>
          <a:ln/>
        </p:spPr>
        <p:txBody>
          <a:bodyPr wrap="square" lIns="0" tIns="0" rIns="0" bIns="0" rtlCol="0" anchor="t"/>
          <a:lstStyle/>
          <a:p>
            <a:pPr algn="l" indent="0" marL="0">
              <a:buNone/>
            </a:pPr>
            <a:r>
              <a:rPr lang="en-US" sz="1800" dirty="0">
                <a:solidFill>
                  <a:srgbClr val="CFE6DD"/>
                </a:solidFill>
              </a:rPr>
              <a:t>Sur iPhone, avec Expo Go et les émulateurs Firebase</a:t>
            </a:r>
            <a:endParaRPr lang="en-US" sz="1800" dirty="0"/>
          </a:p>
        </p:txBody>
      </p:sp>
      <p:sp>
        <p:nvSpPr>
          <p:cNvPr id="4" name="Text 2"/>
          <p:cNvSpPr txBox="1"/>
          <p:nvPr/>
        </p:nvSpPr>
        <p:spPr>
          <a:xfrm>
            <a:off x="6400800" y="822960"/>
            <a:ext cx="2377440" cy="3566160"/>
          </a:xfrm>
          <a:prstGeom prst="rect">
            <a:avLst/>
          </a:prstGeom>
          <a:noFill/>
          <a:ln/>
        </p:spPr>
        <p:txBody>
          <a:bodyPr wrap="square" lIns="0" tIns="0" rIns="0" bIns="0" rtlCol="0" anchor="ctr"/>
          <a:lstStyle/>
          <a:p>
            <a:pPr indent="0" marL="0">
              <a:spcAft>
                <a:spcPts val="600"/>
              </a:spcAft>
              <a:buNone/>
            </a:pPr>
            <a:r>
              <a:rPr lang="en-US" sz="1500" dirty="0">
                <a:solidFill>
                  <a:schemeClr val="bg1"/>
                </a:solidFill>
              </a:rPr>
              <a:t>1. Inscription</a:t>
            </a:r>
            <a:endParaRPr lang="en-US" sz="1500" dirty="0"/>
          </a:p>
          <a:p>
            <a:pPr indent="0" marL="0">
              <a:spcAft>
                <a:spcPts val="600"/>
              </a:spcAft>
              <a:buNone/>
            </a:pPr>
            <a:r>
              <a:rPr lang="en-US" sz="1500" dirty="0">
                <a:solidFill>
                  <a:schemeClr val="bg1"/>
                </a:solidFill>
              </a:rPr>
              <a:t>2. Carte centrée</a:t>
            </a:r>
            <a:endParaRPr lang="en-US" sz="1500" dirty="0"/>
          </a:p>
          <a:p>
            <a:pPr indent="0" marL="0">
              <a:spcAft>
                <a:spcPts val="600"/>
              </a:spcAft>
              <a:buNone/>
            </a:pPr>
            <a:r>
              <a:rPr lang="en-US" sz="1500" dirty="0">
                <a:solidFill>
                  <a:schemeClr val="bg1"/>
                </a:solidFill>
              </a:rPr>
              <a:t>3. Photo de profil</a:t>
            </a:r>
            <a:endParaRPr lang="en-US" sz="1500" dirty="0"/>
          </a:p>
          <a:p>
            <a:pPr indent="0" marL="0">
              <a:spcAft>
                <a:spcPts val="600"/>
              </a:spcAft>
              <a:buNone/>
            </a:pPr>
            <a:r>
              <a:rPr lang="en-US" sz="1500" dirty="0">
                <a:solidFill>
                  <a:schemeClr val="bg1"/>
                </a:solidFill>
              </a:rPr>
              <a:t>4. Connexion / déconnexion</a:t>
            </a:r>
            <a:endParaRPr lang="en-US" sz="1500" dirty="0"/>
          </a:p>
          <a:p>
            <a:pPr indent="0" marL="0">
              <a:spcAft>
                <a:spcPts val="600"/>
              </a:spcAft>
              <a:buNone/>
            </a:pPr>
            <a:r>
              <a:rPr lang="en-US" sz="1500" dirty="0">
                <a:solidFill>
                  <a:schemeClr val="bg1"/>
                </a:solidFill>
              </a:rPr>
              <a:t>5. Mes adresses</a:t>
            </a:r>
            <a:endParaRPr lang="en-US" sz="1500" dirty="0"/>
          </a:p>
          <a:p>
            <a:pPr indent="0" marL="0">
              <a:spcAft>
                <a:spcPts val="600"/>
              </a:spcAft>
              <a:buNone/>
            </a:pPr>
            <a:r>
              <a:rPr lang="en-US" sz="1500" dirty="0">
                <a:solidFill>
                  <a:schemeClr val="bg1"/>
                </a:solidFill>
              </a:rPr>
              <a:t>6. Créer une adresse</a:t>
            </a:r>
            <a:endParaRPr lang="en-US" sz="1500" dirty="0"/>
          </a:p>
          <a:p>
            <a:pPr indent="0" marL="0">
              <a:spcAft>
                <a:spcPts val="600"/>
              </a:spcAft>
              <a:buNone/>
            </a:pPr>
            <a:r>
              <a:rPr lang="en-US" sz="1500" dirty="0">
                <a:solidFill>
                  <a:schemeClr val="bg1"/>
                </a:solidFill>
              </a:rPr>
              <a:t>7. Explorer + avis</a:t>
            </a:r>
            <a:endParaRPr lang="en-US" sz="1500" dirty="0"/>
          </a:p>
          <a:p>
            <a:pPr indent="0" marL="0">
              <a:spcAft>
                <a:spcPts val="600"/>
              </a:spcAft>
              <a:buNone/>
            </a:pPr>
            <a:r>
              <a:rPr lang="en-US" sz="1500" dirty="0">
                <a:solidFill>
                  <a:schemeClr val="bg1"/>
                </a:solidFill>
              </a:rPr>
              <a:t>8. Suppression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Des tests à tous les niveaux</a:t>
            </a:r>
            <a:endParaRPr lang="en-US" sz="3000" dirty="0"/>
          </a:p>
        </p:txBody>
      </p:sp>
      <p:sp>
        <p:nvSpPr>
          <p:cNvPr id="3" name="Shape 1"/>
          <p:cNvSpPr/>
          <p:nvPr/>
        </p:nvSpPr>
        <p:spPr>
          <a:xfrm>
            <a:off x="548640" y="1234440"/>
            <a:ext cx="1874520" cy="3108960"/>
          </a:xfrm>
          <a:prstGeom prst="roundRect">
            <a:avLst>
              <a:gd name="adj" fmla="val 5854"/>
            </a:avLst>
          </a:prstGeom>
          <a:solidFill>
            <a:schemeClr val="accent1"/>
          </a:solidFill>
          <a:ln w="12700">
            <a:solidFill>
              <a:schemeClr val="accent1"/>
            </a:solidFill>
            <a:prstDash val="solid"/>
          </a:ln>
        </p:spPr>
      </p:sp>
      <p:sp>
        <p:nvSpPr>
          <p:cNvPr id="4" name="Text 2"/>
          <p:cNvSpPr txBox="1"/>
          <p:nvPr/>
        </p:nvSpPr>
        <p:spPr>
          <a:xfrm>
            <a:off x="685800" y="1417320"/>
            <a:ext cx="1600200" cy="91440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202</a:t>
            </a:r>
            <a:endParaRPr lang="en-US" sz="5400" dirty="0"/>
          </a:p>
        </p:txBody>
      </p:sp>
      <p:sp>
        <p:nvSpPr>
          <p:cNvPr id="5" name="Text 3"/>
          <p:cNvSpPr txBox="1"/>
          <p:nvPr/>
        </p:nvSpPr>
        <p:spPr>
          <a:xfrm>
            <a:off x="685800" y="2377440"/>
            <a:ext cx="1600200" cy="640080"/>
          </a:xfrm>
          <a:prstGeom prst="rect">
            <a:avLst/>
          </a:prstGeom>
          <a:noFill/>
          <a:ln/>
        </p:spPr>
        <p:txBody>
          <a:bodyPr wrap="square" lIns="0" tIns="0" rIns="0" bIns="0" rtlCol="0" anchor="t"/>
          <a:lstStyle/>
          <a:p>
            <a:pPr indent="0" marL="0">
              <a:buNone/>
            </a:pPr>
            <a:r>
              <a:rPr lang="en-US" sz="1500" b="1" dirty="0">
                <a:solidFill>
                  <a:schemeClr val="bg1"/>
                </a:solidFill>
              </a:rPr>
              <a:t>tests unitaires et fonctionnels</a:t>
            </a:r>
            <a:endParaRPr lang="en-US" sz="1500" dirty="0"/>
          </a:p>
        </p:txBody>
      </p:sp>
      <p:sp>
        <p:nvSpPr>
          <p:cNvPr id="6" name="Text 4"/>
          <p:cNvSpPr txBox="1"/>
          <p:nvPr/>
        </p:nvSpPr>
        <p:spPr>
          <a:xfrm>
            <a:off x="685800" y="3063240"/>
            <a:ext cx="1600200" cy="1143000"/>
          </a:xfrm>
          <a:prstGeom prst="rect">
            <a:avLst/>
          </a:prstGeom>
          <a:noFill/>
          <a:ln/>
        </p:spPr>
        <p:txBody>
          <a:bodyPr wrap="square" lIns="0" tIns="0" rIns="0" bIns="0" rtlCol="0" anchor="t"/>
          <a:lstStyle/>
          <a:p>
            <a:pPr indent="0" marL="0">
              <a:buNone/>
            </a:pPr>
            <a:r>
              <a:rPr lang="en-US" sz="1200" dirty="0">
                <a:solidFill>
                  <a:srgbClr val="E3F1EC"/>
                </a:solidFill>
              </a:rPr>
              <a:t>Jest + React Native Testing Library, ~97 % de couverture</a:t>
            </a:r>
            <a:endParaRPr lang="en-US" sz="1200" dirty="0"/>
          </a:p>
        </p:txBody>
      </p:sp>
      <p:sp>
        <p:nvSpPr>
          <p:cNvPr id="7" name="Shape 5"/>
          <p:cNvSpPr/>
          <p:nvPr/>
        </p:nvSpPr>
        <p:spPr>
          <a:xfrm>
            <a:off x="2606040" y="1234440"/>
            <a:ext cx="1874520" cy="3108960"/>
          </a:xfrm>
          <a:prstGeom prst="roundRect">
            <a:avLst>
              <a:gd name="adj" fmla="val 5854"/>
            </a:avLst>
          </a:prstGeom>
          <a:solidFill>
            <a:schemeClr val="bg2"/>
          </a:solidFill>
          <a:ln w="12700">
            <a:solidFill>
              <a:schemeClr val="bg2"/>
            </a:solidFill>
            <a:prstDash val="solid"/>
          </a:ln>
        </p:spPr>
      </p:sp>
      <p:sp>
        <p:nvSpPr>
          <p:cNvPr id="8" name="Text 6"/>
          <p:cNvSpPr txBox="1"/>
          <p:nvPr/>
        </p:nvSpPr>
        <p:spPr>
          <a:xfrm>
            <a:off x="2743200" y="1417320"/>
            <a:ext cx="160020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41</a:t>
            </a:r>
            <a:endParaRPr lang="en-US" sz="5400" dirty="0"/>
          </a:p>
        </p:txBody>
      </p:sp>
      <p:sp>
        <p:nvSpPr>
          <p:cNvPr id="9" name="Text 7"/>
          <p:cNvSpPr txBox="1"/>
          <p:nvPr/>
        </p:nvSpPr>
        <p:spPr>
          <a:xfrm>
            <a:off x="2743200" y="2377440"/>
            <a:ext cx="1600200" cy="640080"/>
          </a:xfrm>
          <a:prstGeom prst="rect">
            <a:avLst/>
          </a:prstGeom>
          <a:noFill/>
          <a:ln/>
        </p:spPr>
        <p:txBody>
          <a:bodyPr wrap="square" lIns="0" tIns="0" rIns="0" bIns="0" rtlCol="0" anchor="t"/>
          <a:lstStyle/>
          <a:p>
            <a:pPr indent="0" marL="0">
              <a:buNone/>
            </a:pPr>
            <a:r>
              <a:rPr lang="en-US" sz="1500" b="1" dirty="0">
                <a:solidFill>
                  <a:schemeClr val="tx2"/>
                </a:solidFill>
              </a:rPr>
              <a:t>tests sur émulateurs Firebase</a:t>
            </a:r>
            <a:endParaRPr lang="en-US" sz="1500" dirty="0"/>
          </a:p>
        </p:txBody>
      </p:sp>
      <p:sp>
        <p:nvSpPr>
          <p:cNvPr id="10" name="Text 8"/>
          <p:cNvSpPr txBox="1"/>
          <p:nvPr/>
        </p:nvSpPr>
        <p:spPr>
          <a:xfrm>
            <a:off x="2743200" y="3063240"/>
            <a:ext cx="1600200" cy="1143000"/>
          </a:xfrm>
          <a:prstGeom prst="rect">
            <a:avLst/>
          </a:prstGeom>
          <a:noFill/>
          <a:ln/>
        </p:spPr>
        <p:txBody>
          <a:bodyPr wrap="square" lIns="0" tIns="0" rIns="0" bIns="0" rtlCol="0" anchor="t"/>
          <a:lstStyle/>
          <a:p>
            <a:pPr indent="0" marL="0">
              <a:buNone/>
            </a:pPr>
            <a:r>
              <a:rPr lang="en-US" sz="1200" dirty="0">
                <a:solidFill>
                  <a:schemeClr val="tx1"/>
                </a:solidFill>
              </a:rPr>
              <a:t>33 tests des règles + parcours complet avec les vrais services</a:t>
            </a:r>
            <a:endParaRPr lang="en-US" sz="1200" dirty="0"/>
          </a:p>
        </p:txBody>
      </p:sp>
      <p:sp>
        <p:nvSpPr>
          <p:cNvPr id="11" name="Shape 9"/>
          <p:cNvSpPr/>
          <p:nvPr/>
        </p:nvSpPr>
        <p:spPr>
          <a:xfrm>
            <a:off x="4663440" y="1234440"/>
            <a:ext cx="1874520" cy="3108960"/>
          </a:xfrm>
          <a:prstGeom prst="roundRect">
            <a:avLst>
              <a:gd name="adj" fmla="val 5854"/>
            </a:avLst>
          </a:prstGeom>
          <a:solidFill>
            <a:schemeClr val="bg2"/>
          </a:solidFill>
          <a:ln w="12700">
            <a:solidFill>
              <a:schemeClr val="bg2"/>
            </a:solidFill>
            <a:prstDash val="solid"/>
          </a:ln>
        </p:spPr>
      </p:sp>
      <p:sp>
        <p:nvSpPr>
          <p:cNvPr id="12" name="Text 10"/>
          <p:cNvSpPr txBox="1"/>
          <p:nvPr/>
        </p:nvSpPr>
        <p:spPr>
          <a:xfrm>
            <a:off x="4800600" y="1417320"/>
            <a:ext cx="160020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4</a:t>
            </a:r>
            <a:endParaRPr lang="en-US" sz="5400" dirty="0"/>
          </a:p>
        </p:txBody>
      </p:sp>
      <p:sp>
        <p:nvSpPr>
          <p:cNvPr id="13" name="Text 11"/>
          <p:cNvSpPr txBox="1"/>
          <p:nvPr/>
        </p:nvSpPr>
        <p:spPr>
          <a:xfrm>
            <a:off x="4800600" y="2377440"/>
            <a:ext cx="1600200" cy="640080"/>
          </a:xfrm>
          <a:prstGeom prst="rect">
            <a:avLst/>
          </a:prstGeom>
          <a:noFill/>
          <a:ln/>
        </p:spPr>
        <p:txBody>
          <a:bodyPr wrap="square" lIns="0" tIns="0" rIns="0" bIns="0" rtlCol="0" anchor="t"/>
          <a:lstStyle/>
          <a:p>
            <a:pPr indent="0" marL="0">
              <a:buNone/>
            </a:pPr>
            <a:r>
              <a:rPr lang="en-US" sz="1500" b="1" dirty="0">
                <a:solidFill>
                  <a:schemeClr val="tx2"/>
                </a:solidFill>
              </a:rPr>
              <a:t>parcours e2e</a:t>
            </a:r>
            <a:endParaRPr lang="en-US" sz="1500" dirty="0"/>
          </a:p>
        </p:txBody>
      </p:sp>
      <p:sp>
        <p:nvSpPr>
          <p:cNvPr id="14" name="Text 12"/>
          <p:cNvSpPr txBox="1"/>
          <p:nvPr/>
        </p:nvSpPr>
        <p:spPr>
          <a:xfrm>
            <a:off x="4800600" y="3063240"/>
            <a:ext cx="1600200" cy="1143000"/>
          </a:xfrm>
          <a:prstGeom prst="rect">
            <a:avLst/>
          </a:prstGeom>
          <a:noFill/>
          <a:ln/>
        </p:spPr>
        <p:txBody>
          <a:bodyPr wrap="square" lIns="0" tIns="0" rIns="0" bIns="0" rtlCol="0" anchor="t"/>
          <a:lstStyle/>
          <a:p>
            <a:pPr indent="0" marL="0">
              <a:buNone/>
            </a:pPr>
            <a:r>
              <a:rPr lang="en-US" sz="1200" dirty="0">
                <a:solidFill>
                  <a:schemeClr val="tx1"/>
                </a:solidFill>
              </a:rPr>
              <a:t>Maestro : authentification, carte, adresses, avis</a:t>
            </a:r>
            <a:endParaRPr lang="en-US" sz="1200" dirty="0"/>
          </a:p>
        </p:txBody>
      </p:sp>
      <p:sp>
        <p:nvSpPr>
          <p:cNvPr id="15" name="Shape 13"/>
          <p:cNvSpPr/>
          <p:nvPr/>
        </p:nvSpPr>
        <p:spPr>
          <a:xfrm>
            <a:off x="6720840" y="1234440"/>
            <a:ext cx="1874520" cy="3108960"/>
          </a:xfrm>
          <a:prstGeom prst="roundRect">
            <a:avLst>
              <a:gd name="adj" fmla="val 5854"/>
            </a:avLst>
          </a:prstGeom>
          <a:solidFill>
            <a:schemeClr val="bg2"/>
          </a:solidFill>
          <a:ln w="12700">
            <a:solidFill>
              <a:schemeClr val="bg2"/>
            </a:solidFill>
            <a:prstDash val="solid"/>
          </a:ln>
        </p:spPr>
      </p:sp>
      <p:sp>
        <p:nvSpPr>
          <p:cNvPr id="16" name="Text 14"/>
          <p:cNvSpPr txBox="1"/>
          <p:nvPr/>
        </p:nvSpPr>
        <p:spPr>
          <a:xfrm>
            <a:off x="6858000" y="1417320"/>
            <a:ext cx="160020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31</a:t>
            </a:r>
            <a:endParaRPr lang="en-US" sz="5400" dirty="0"/>
          </a:p>
        </p:txBody>
      </p:sp>
      <p:sp>
        <p:nvSpPr>
          <p:cNvPr id="17" name="Text 15"/>
          <p:cNvSpPr txBox="1"/>
          <p:nvPr/>
        </p:nvSpPr>
        <p:spPr>
          <a:xfrm>
            <a:off x="6858000" y="2377440"/>
            <a:ext cx="1600200" cy="640080"/>
          </a:xfrm>
          <a:prstGeom prst="rect">
            <a:avLst/>
          </a:prstGeom>
          <a:noFill/>
          <a:ln/>
        </p:spPr>
        <p:txBody>
          <a:bodyPr wrap="square" lIns="0" tIns="0" rIns="0" bIns="0" rtlCol="0" anchor="t"/>
          <a:lstStyle/>
          <a:p>
            <a:pPr indent="0" marL="0">
              <a:buNone/>
            </a:pPr>
            <a:r>
              <a:rPr lang="en-US" sz="1500" b="1" dirty="0">
                <a:solidFill>
                  <a:schemeClr val="tx2"/>
                </a:solidFill>
              </a:rPr>
              <a:t>stories Storybook</a:t>
            </a:r>
            <a:endParaRPr lang="en-US" sz="1500" dirty="0"/>
          </a:p>
        </p:txBody>
      </p:sp>
      <p:sp>
        <p:nvSpPr>
          <p:cNvPr id="18" name="Text 16"/>
          <p:cNvSpPr txBox="1"/>
          <p:nvPr/>
        </p:nvSpPr>
        <p:spPr>
          <a:xfrm>
            <a:off x="6858000" y="3063240"/>
            <a:ext cx="1600200" cy="1143000"/>
          </a:xfrm>
          <a:prstGeom prst="rect">
            <a:avLst/>
          </a:prstGeom>
          <a:noFill/>
          <a:ln/>
        </p:spPr>
        <p:txBody>
          <a:bodyPr wrap="square" lIns="0" tIns="0" rIns="0" bIns="0" rtlCol="0" anchor="t"/>
          <a:lstStyle/>
          <a:p>
            <a:pPr indent="0" marL="0">
              <a:buNone/>
            </a:pPr>
            <a:r>
              <a:rPr lang="en-US" sz="1200" dirty="0">
                <a:solidFill>
                  <a:schemeClr val="tx1"/>
                </a:solidFill>
              </a:rPr>
              <a:t>11 composants, rendus aussi dans Jest</a:t>
            </a:r>
            <a:endParaRPr lang="en-US" sz="12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685800"/>
          </a:xfrm>
          <a:prstGeom prst="rect">
            <a:avLst/>
          </a:prstGeom>
          <a:noFill/>
          <a:ln/>
        </p:spPr>
        <p:txBody>
          <a:bodyPr wrap="square" lIns="0" tIns="0" rIns="0" bIns="0" rtlCol="0" anchor="ctr"/>
          <a:lstStyle/>
          <a:p>
            <a:pPr algn="l" indent="0" marL="0">
              <a:buNone/>
            </a:pPr>
            <a:r>
              <a:rPr lang="en-US" sz="3000" b="1" dirty="0">
                <a:solidFill>
                  <a:schemeClr val="tx2"/>
                </a:solidFill>
              </a:rPr>
              <a:t>Difficultés rencontrées</a:t>
            </a:r>
            <a:endParaRPr lang="en-US" sz="3000" dirty="0"/>
          </a:p>
        </p:txBody>
      </p:sp>
      <p:sp>
        <p:nvSpPr>
          <p:cNvPr id="3" name="Shape 1"/>
          <p:cNvSpPr/>
          <p:nvPr/>
        </p:nvSpPr>
        <p:spPr>
          <a:xfrm>
            <a:off x="548640" y="1234440"/>
            <a:ext cx="2560320" cy="3108960"/>
          </a:xfrm>
          <a:prstGeom prst="roundRect">
            <a:avLst>
              <a:gd name="adj" fmla="val 4286"/>
            </a:avLst>
          </a:prstGeom>
          <a:solidFill>
            <a:schemeClr val="bg2"/>
          </a:solidFill>
          <a:ln w="12700">
            <a:solidFill>
              <a:schemeClr val="bg2"/>
            </a:solidFill>
            <a:prstDash val="solid"/>
          </a:ln>
        </p:spPr>
      </p:sp>
      <p:sp>
        <p:nvSpPr>
          <p:cNvPr id="4" name="Shape 2"/>
          <p:cNvSpPr/>
          <p:nvPr/>
        </p:nvSpPr>
        <p:spPr>
          <a:xfrm>
            <a:off x="777240" y="1463040"/>
            <a:ext cx="548640" cy="54864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897941" y="1583741"/>
            <a:ext cx="307238" cy="307238"/>
          </a:xfrm>
          <a:prstGeom prst="rect">
            <a:avLst/>
          </a:prstGeom>
        </p:spPr>
      </p:pic>
      <p:sp>
        <p:nvSpPr>
          <p:cNvPr id="6" name="Text 3"/>
          <p:cNvSpPr txBox="1"/>
          <p:nvPr/>
        </p:nvSpPr>
        <p:spPr>
          <a:xfrm>
            <a:off x="777240" y="214884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Version d’Expo Go</a:t>
            </a:r>
            <a:endParaRPr lang="en-US" sz="1700" dirty="0"/>
          </a:p>
        </p:txBody>
      </p:sp>
      <p:sp>
        <p:nvSpPr>
          <p:cNvPr id="7" name="Text 4"/>
          <p:cNvSpPr txBox="1"/>
          <p:nvPr/>
        </p:nvSpPr>
        <p:spPr>
          <a:xfrm>
            <a:off x="777240" y="2606040"/>
            <a:ext cx="2148840" cy="731520"/>
          </a:xfrm>
          <a:prstGeom prst="rect">
            <a:avLst/>
          </a:prstGeom>
          <a:noFill/>
          <a:ln/>
        </p:spPr>
        <p:txBody>
          <a:bodyPr wrap="square" lIns="0" tIns="0" rIns="0" bIns="0" rtlCol="0" anchor="t"/>
          <a:lstStyle/>
          <a:p>
            <a:pPr indent="0" marL="0">
              <a:buNone/>
            </a:pPr>
            <a:r>
              <a:rPr lang="en-US" sz="1300" dirty="0">
                <a:solidFill>
                  <a:schemeClr val="tx1"/>
                </a:solidFill>
              </a:rPr>
              <a:t>Expo Go n’accepte que le dernier SDK sur iPhone</a:t>
            </a:r>
            <a:endParaRPr lang="en-US" sz="1300" dirty="0"/>
          </a:p>
        </p:txBody>
      </p:sp>
      <p:sp>
        <p:nvSpPr>
          <p:cNvPr id="8" name="Text 5"/>
          <p:cNvSpPr txBox="1"/>
          <p:nvPr/>
        </p:nvSpPr>
        <p:spPr>
          <a:xfrm>
            <a:off x="777240" y="3383280"/>
            <a:ext cx="2148840" cy="822960"/>
          </a:xfrm>
          <a:prstGeom prst="rect">
            <a:avLst/>
          </a:prstGeom>
          <a:noFill/>
          <a:ln/>
        </p:spPr>
        <p:txBody>
          <a:bodyPr wrap="square" lIns="0" tIns="0" rIns="0" bIns="0" rtlCol="0" anchor="t"/>
          <a:lstStyle/>
          <a:p>
            <a:pPr indent="0" marL="0">
              <a:buNone/>
            </a:pPr>
            <a:r>
              <a:rPr lang="en-US" sz="1300" b="1" dirty="0">
                <a:solidFill>
                  <a:schemeClr val="accent1"/>
                </a:solidFill>
              </a:rPr>
              <a:t>→ </a:t>
            </a:r>
            <a:pPr indent="0" marL="0">
              <a:buNone/>
            </a:pPr>
            <a:r>
              <a:rPr lang="en-US" sz="1300" i="1" dirty="0">
                <a:solidFill>
                  <a:schemeClr val="accent1"/>
                </a:solidFill>
              </a:rPr>
              <a:t>Migration vers le SDK 57, Node 20.20.2 documenté</a:t>
            </a:r>
            <a:endParaRPr lang="en-US" sz="1300" dirty="0"/>
          </a:p>
        </p:txBody>
      </p:sp>
      <p:sp>
        <p:nvSpPr>
          <p:cNvPr id="9" name="Shape 6"/>
          <p:cNvSpPr/>
          <p:nvPr/>
        </p:nvSpPr>
        <p:spPr>
          <a:xfrm>
            <a:off x="3291840" y="1234440"/>
            <a:ext cx="2560320" cy="3108960"/>
          </a:xfrm>
          <a:prstGeom prst="roundRect">
            <a:avLst>
              <a:gd name="adj" fmla="val 4286"/>
            </a:avLst>
          </a:prstGeom>
          <a:solidFill>
            <a:schemeClr val="bg2"/>
          </a:solidFill>
          <a:ln w="12700">
            <a:solidFill>
              <a:schemeClr val="bg2"/>
            </a:solidFill>
            <a:prstDash val="solid"/>
          </a:ln>
        </p:spPr>
      </p:sp>
      <p:sp>
        <p:nvSpPr>
          <p:cNvPr id="10" name="Shape 7"/>
          <p:cNvSpPr/>
          <p:nvPr/>
        </p:nvSpPr>
        <p:spPr>
          <a:xfrm>
            <a:off x="3520440" y="1463040"/>
            <a:ext cx="548640" cy="54864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641141" y="1583741"/>
            <a:ext cx="307238" cy="307238"/>
          </a:xfrm>
          <a:prstGeom prst="rect">
            <a:avLst/>
          </a:prstGeom>
        </p:spPr>
      </p:pic>
      <p:sp>
        <p:nvSpPr>
          <p:cNvPr id="12" name="Text 8"/>
          <p:cNvSpPr txBox="1"/>
          <p:nvPr/>
        </p:nvSpPr>
        <p:spPr>
          <a:xfrm>
            <a:off x="3520440" y="214884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Cloud Storage payant</a:t>
            </a:r>
            <a:endParaRPr lang="en-US" sz="1700" dirty="0"/>
          </a:p>
        </p:txBody>
      </p:sp>
      <p:sp>
        <p:nvSpPr>
          <p:cNvPr id="13" name="Text 9"/>
          <p:cNvSpPr txBox="1"/>
          <p:nvPr/>
        </p:nvSpPr>
        <p:spPr>
          <a:xfrm>
            <a:off x="3520440" y="2606040"/>
            <a:ext cx="2148840" cy="731520"/>
          </a:xfrm>
          <a:prstGeom prst="rect">
            <a:avLst/>
          </a:prstGeom>
          <a:noFill/>
          <a:ln/>
        </p:spPr>
        <p:txBody>
          <a:bodyPr wrap="square" lIns="0" tIns="0" rIns="0" bIns="0" rtlCol="0" anchor="t"/>
          <a:lstStyle/>
          <a:p>
            <a:pPr indent="0" marL="0">
              <a:buNone/>
            </a:pPr>
            <a:r>
              <a:rPr lang="en-US" sz="1300" dirty="0">
                <a:solidFill>
                  <a:schemeClr val="tx1"/>
                </a:solidFill>
              </a:rPr>
              <a:t>Les photos exigent le forfait Blaze de Firebase</a:t>
            </a:r>
            <a:endParaRPr lang="en-US" sz="1300" dirty="0"/>
          </a:p>
        </p:txBody>
      </p:sp>
      <p:sp>
        <p:nvSpPr>
          <p:cNvPr id="14" name="Text 10"/>
          <p:cNvSpPr txBox="1"/>
          <p:nvPr/>
        </p:nvSpPr>
        <p:spPr>
          <a:xfrm>
            <a:off x="3520440" y="3383280"/>
            <a:ext cx="2148840" cy="822960"/>
          </a:xfrm>
          <a:prstGeom prst="rect">
            <a:avLst/>
          </a:prstGeom>
          <a:noFill/>
          <a:ln/>
        </p:spPr>
        <p:txBody>
          <a:bodyPr wrap="square" lIns="0" tIns="0" rIns="0" bIns="0" rtlCol="0" anchor="t"/>
          <a:lstStyle/>
          <a:p>
            <a:pPr indent="0" marL="0">
              <a:buNone/>
            </a:pPr>
            <a:r>
              <a:rPr lang="en-US" sz="1300" b="1" dirty="0">
                <a:solidFill>
                  <a:schemeClr val="accent1"/>
                </a:solidFill>
              </a:rPr>
              <a:t>→ </a:t>
            </a:r>
            <a:pPr indent="0" marL="0">
              <a:buNone/>
            </a:pPr>
            <a:r>
              <a:rPr lang="en-US" sz="1300" i="1" dirty="0">
                <a:solidFill>
                  <a:schemeClr val="accent1"/>
                </a:solidFill>
              </a:rPr>
              <a:t>Émulateurs Firebase officiels, mêmes règles, 0 €</a:t>
            </a:r>
            <a:endParaRPr lang="en-US" sz="1300" dirty="0"/>
          </a:p>
        </p:txBody>
      </p:sp>
      <p:sp>
        <p:nvSpPr>
          <p:cNvPr id="15" name="Shape 11"/>
          <p:cNvSpPr/>
          <p:nvPr/>
        </p:nvSpPr>
        <p:spPr>
          <a:xfrm>
            <a:off x="6035040" y="1234440"/>
            <a:ext cx="2560320" cy="3108960"/>
          </a:xfrm>
          <a:prstGeom prst="roundRect">
            <a:avLst>
              <a:gd name="adj" fmla="val 4286"/>
            </a:avLst>
          </a:prstGeom>
          <a:solidFill>
            <a:schemeClr val="bg2"/>
          </a:solidFill>
          <a:ln w="12700">
            <a:solidFill>
              <a:schemeClr val="bg2"/>
            </a:solidFill>
            <a:prstDash val="solid"/>
          </a:ln>
        </p:spPr>
      </p:sp>
      <p:sp>
        <p:nvSpPr>
          <p:cNvPr id="16" name="Shape 12"/>
          <p:cNvSpPr/>
          <p:nvPr/>
        </p:nvSpPr>
        <p:spPr>
          <a:xfrm>
            <a:off x="6263640" y="1463040"/>
            <a:ext cx="548640" cy="548640"/>
          </a:xfrm>
          <a:prstGeom prst="ellipse">
            <a:avLst/>
          </a:prstGeom>
          <a:solidFill>
            <a:schemeClr val="accent2"/>
          </a:solidFill>
          <a:ln w="12700">
            <a:solidFill>
              <a:schemeClr val="accent2"/>
            </a:solidFill>
            <a:prstDash val="solid"/>
          </a:ln>
        </p:spPr>
      </p:sp>
      <p:pic>
        <p:nvPicPr>
          <p:cNvPr id="17" name="Image 2" descr="preencoded.png">    </p:cNvPr>
          <p:cNvPicPr>
            <a:picLocks noChangeAspect="1"/>
          </p:cNvPicPr>
          <p:nvPr/>
        </p:nvPicPr>
        <p:blipFill>
          <a:blip r:embed="rId3"/>
          <a:stretch>
            <a:fillRect/>
          </a:stretch>
        </p:blipFill>
        <p:spPr>
          <a:xfrm>
            <a:off x="6384341" y="1583741"/>
            <a:ext cx="307238" cy="307238"/>
          </a:xfrm>
          <a:prstGeom prst="rect">
            <a:avLst/>
          </a:prstGeom>
        </p:spPr>
      </p:pic>
      <p:sp>
        <p:nvSpPr>
          <p:cNvPr id="18" name="Text 13"/>
          <p:cNvSpPr txBox="1"/>
          <p:nvPr/>
        </p:nvSpPr>
        <p:spPr>
          <a:xfrm>
            <a:off x="6263640" y="2148840"/>
            <a:ext cx="2148840" cy="411480"/>
          </a:xfrm>
          <a:prstGeom prst="rect">
            <a:avLst/>
          </a:prstGeom>
          <a:noFill/>
          <a:ln/>
        </p:spPr>
        <p:txBody>
          <a:bodyPr wrap="square" lIns="0" tIns="0" rIns="0" bIns="0" rtlCol="0" anchor="ctr"/>
          <a:lstStyle/>
          <a:p>
            <a:pPr indent="0" marL="0">
              <a:buNone/>
            </a:pPr>
            <a:r>
              <a:rPr lang="en-US" sz="1700" b="1" dirty="0">
                <a:solidFill>
                  <a:schemeClr val="tx2"/>
                </a:solidFill>
              </a:rPr>
              <a:t>Réseau iPhone ↔ PC</a:t>
            </a:r>
            <a:endParaRPr lang="en-US" sz="1700" dirty="0"/>
          </a:p>
        </p:txBody>
      </p:sp>
      <p:sp>
        <p:nvSpPr>
          <p:cNvPr id="19" name="Text 14"/>
          <p:cNvSpPr txBox="1"/>
          <p:nvPr/>
        </p:nvSpPr>
        <p:spPr>
          <a:xfrm>
            <a:off x="6263640" y="2606040"/>
            <a:ext cx="2148840" cy="731520"/>
          </a:xfrm>
          <a:prstGeom prst="rect">
            <a:avLst/>
          </a:prstGeom>
          <a:noFill/>
          <a:ln/>
        </p:spPr>
        <p:txBody>
          <a:bodyPr wrap="square" lIns="0" tIns="0" rIns="0" bIns="0" rtlCol="0" anchor="t"/>
          <a:lstStyle/>
          <a:p>
            <a:pPr indent="0" marL="0">
              <a:buNone/>
            </a:pPr>
            <a:r>
              <a:rPr lang="en-US" sz="1300" dirty="0">
                <a:solidFill>
                  <a:schemeClr val="tx1"/>
                </a:solidFill>
              </a:rPr>
              <a:t>WSL, redirections de ports, pare-feu, IP qui change</a:t>
            </a:r>
            <a:endParaRPr lang="en-US" sz="1300" dirty="0"/>
          </a:p>
        </p:txBody>
      </p:sp>
      <p:sp>
        <p:nvSpPr>
          <p:cNvPr id="20" name="Text 15"/>
          <p:cNvSpPr txBox="1"/>
          <p:nvPr/>
        </p:nvSpPr>
        <p:spPr>
          <a:xfrm>
            <a:off x="6263640" y="3383280"/>
            <a:ext cx="2148840" cy="822960"/>
          </a:xfrm>
          <a:prstGeom prst="rect">
            <a:avLst/>
          </a:prstGeom>
          <a:noFill/>
          <a:ln/>
        </p:spPr>
        <p:txBody>
          <a:bodyPr wrap="square" lIns="0" tIns="0" rIns="0" bIns="0" rtlCol="0" anchor="t"/>
          <a:lstStyle/>
          <a:p>
            <a:pPr indent="0" marL="0">
              <a:buNone/>
            </a:pPr>
            <a:r>
              <a:rPr lang="en-US" sz="1300" b="1" dirty="0">
                <a:solidFill>
                  <a:schemeClr val="accent1"/>
                </a:solidFill>
              </a:rPr>
              <a:t>→ </a:t>
            </a:r>
            <a:pPr indent="0" marL="0">
              <a:buNone/>
            </a:pPr>
            <a:r>
              <a:rPr lang="en-US" sz="1300" i="1" dirty="0">
                <a:solidFill>
                  <a:schemeClr val="accent1"/>
                </a:solidFill>
              </a:rPr>
              <a:t>Partage de connexion + adresse des photos recalculée</a:t>
            </a:r>
            <a:endParaRPr lang="en-US" sz="1300" dirty="0"/>
          </a:p>
        </p:txBody>
      </p:sp>
      <p:sp>
        <p:nvSpPr>
          <p:cNvPr id="25" name="Slide Number Placeholder 0"/>
          <p:cNvSpPr>
            <a:spLocks noGrp="1"/>
          </p:cNvSpPr>
          <p:nvPr>
            <p:ph type="sldNum" sz="quarter" idx="4294967295"/>
          </p:nvPr>
        </p:nvSpPr>
        <p:spPr>
          <a:xfrm>
            <a:off x="832104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486400" cy="1188720"/>
          </a:xfrm>
          <a:prstGeom prst="rect">
            <a:avLst/>
          </a:prstGeom>
          <a:noFill/>
          <a:ln/>
        </p:spPr>
        <p:txBody>
          <a:bodyPr wrap="square" lIns="0" tIns="0" rIns="0" bIns="0" rtlCol="0" anchor="b"/>
          <a:lstStyle/>
          <a:p>
            <a:pPr algn="l" indent="0" marL="0">
              <a:buNone/>
            </a:pPr>
            <a:r>
              <a:rPr lang="en-US" sz="3600" b="1" dirty="0">
                <a:solidFill>
                  <a:schemeClr val="bg1"/>
                </a:solidFill>
              </a:rPr>
              <a:t>Merci !</a:t>
            </a:r>
            <a:endParaRPr lang="en-US" sz="3600" dirty="0"/>
          </a:p>
        </p:txBody>
      </p:sp>
      <p:sp>
        <p:nvSpPr>
          <p:cNvPr id="3" name="Text 0"/>
          <p:cNvSpPr/>
          <p:nvPr>
            <p:ph idx="101" type="body" hasCustomPrompt="1"/>
          </p:nvPr>
        </p:nvSpPr>
        <p:spPr>
          <a:xfrm>
            <a:off x="548640" y="2697480"/>
            <a:ext cx="5486400" cy="1097280"/>
          </a:xfrm>
          <a:prstGeom prst="rect">
            <a:avLst/>
          </a:prstGeom>
          <a:noFill/>
          <a:ln/>
        </p:spPr>
        <p:txBody>
          <a:bodyPr wrap="square" lIns="0" tIns="0" rIns="0" bIns="0" rtlCol="0" anchor="t"/>
          <a:lstStyle/>
          <a:p>
            <a:pPr algn="l" indent="0" marL="0">
              <a:buNone/>
            </a:pPr>
            <a:r>
              <a:rPr lang="en-US" sz="1800" dirty="0">
                <a:solidFill>
                  <a:srgbClr val="CFE6DD"/>
                </a:solidFill>
              </a:rPr>
              <a:t>Une application complète, sécurisée et testée</a:t>
            </a:r>
            <a:endParaRPr lang="en-US" sz="1800" dirty="0"/>
          </a:p>
          <a:p>
            <a:pPr algn="l" indent="0" marL="0">
              <a:buNone/>
            </a:pPr>
            <a:r>
              <a:rPr lang="en-US" sz="1800" dirty="0">
                <a:solidFill>
                  <a:srgbClr val="CFE6DD"/>
                </a:solidFill>
              </a:rPr>
              <a:t>Des questions ?</a:t>
            </a:r>
            <a:endParaRPr lang="en-US" sz="1800" dirty="0"/>
          </a:p>
        </p:txBody>
      </p:sp>
      <p:sp>
        <p:nvSpPr>
          <p:cNvPr id="4" name="Shape 2"/>
          <p:cNvSpPr/>
          <p:nvPr/>
        </p:nvSpPr>
        <p:spPr>
          <a:xfrm>
            <a:off x="6400800" y="1188720"/>
            <a:ext cx="2194560" cy="219456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6949440" y="1737360"/>
            <a:ext cx="1097280" cy="1097280"/>
          </a:xfrm>
          <a:prstGeom prst="rect">
            <a:avLst/>
          </a:prstGeom>
        </p:spPr>
      </p:pic>
    </p:spTree>
  </p:cSld>
  <p:clrMapOvr>
    <a:masterClrMapping/>
  </p:clrMapOvr>
</p:sld>
</file>

<file path=ppt/theme/theme1.xml><?xml version="1.0" encoding="utf-8"?>
<a:theme xmlns:a="http://schemas.openxmlformats.org/drawingml/2006/main" name="Mes Bonnes Adresses">
  <a:themeElements>
    <a:clrScheme name="Mes Bonnes Adresses">
      <a:dk1>
        <a:srgbClr val="1F2933"/>
      </a:dk1>
      <a:lt1>
        <a:srgbClr val="FFFFFF"/>
      </a:lt1>
      <a:dk2>
        <a:srgbClr val="123F35"/>
      </a:dk2>
      <a:lt2>
        <a:srgbClr val="EEF5F2"/>
      </a:lt2>
      <a:accent1>
        <a:srgbClr val="1E6F5C"/>
      </a:accent1>
      <a:accent2>
        <a:srgbClr val="F4A259"/>
      </a:accent2>
      <a:accent3>
        <a:srgbClr val="7C3AED"/>
      </a:accent3>
      <a:accent4>
        <a:srgbClr val="E07A1F"/>
      </a:accent4>
      <a:accent5>
        <a:srgbClr val="6B7280"/>
      </a:accent5>
      <a:accent6>
        <a:srgbClr val="D9DEE3"/>
      </a:accent6>
      <a:hlink>
        <a:srgbClr val="1E6F5C"/>
      </a:hlink>
      <a:folHlink>
        <a:srgbClr val="7C3AED"/>
      </a:folHlink>
    </a:clrScheme>
    <a:fontScheme name="Mes Bonnes Adress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 Bonnes Adresses — Soutenance 5MOBD</dc:title>
  <dc:subject>PptxGenJS Presentation</dc:subject>
  <dc:creator>Rayene</dc:creator>
  <cp:lastModifiedBy>Rayene</cp:lastModifiedBy>
  <cp:revision>1</cp:revision>
  <dcterms:created xsi:type="dcterms:W3CDTF">2026-10-20T07:38:05Z</dcterms:created>
  <dcterms:modified xsi:type="dcterms:W3CDTF">2026-10-20T07:38:05Z</dcterms:modified>
</cp:coreProperties>
</file>